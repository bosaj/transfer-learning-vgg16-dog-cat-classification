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Open Sauce Bold" charset="1" panose="00000800000000000000"/>
      <p:regular r:id="rId23"/>
    </p:embeddedFont>
    <p:embeddedFont>
      <p:font typeface="Open Sauce" charset="1" panose="00000500000000000000"/>
      <p:regular r:id="rId24"/>
    </p:embeddedFont>
    <p:embeddedFont>
      <p:font typeface="Open Sauce Bold Italics" charset="1" panose="00000800000000000000"/>
      <p:regular r:id="rId26"/>
    </p:embeddedFont>
    <p:embeddedFont>
      <p:font typeface="Open Sauce Italics" charset="1" panose="000005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2.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السلام عليكم</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Transfer Learning fonctionne de manière similaire à l'expérience humaine dans un domaine. Par exemple, une personne ayant déjà une expertise en IA ou en informatique a acquis de nombreuses connaissances et compétences au fil du temps. En tant qu'étudiant, vous pouvez bénéficier de cette expérience en "transférant" ses connaissances à vous, sans avoir à repartir de zéro. Cela vous permet de gagner du temps et de l'énergie en utilisant les bases solides qu'ils ont déjà construits, tout en vous concentrant sur des aspects plus spécifiques ou avancés de votre apprentissage.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gif"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22.jpeg" Type="http://schemas.openxmlformats.org/officeDocument/2006/relationships/image"/><Relationship Id="rId6" Target="../media/image23.jpeg" Type="http://schemas.openxmlformats.org/officeDocument/2006/relationships/image"/><Relationship Id="rId7" Target="../media/image24.jpeg" Type="http://schemas.openxmlformats.org/officeDocument/2006/relationships/image"/><Relationship Id="rId8"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https://aclanthology.org/P18-1031/"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5197320" y="7705858"/>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3"/>
            <a:stretch>
              <a:fillRect l="0" t="0" r="0" b="-76306"/>
            </a:stretch>
          </a:blipFill>
        </p:spPr>
      </p:sp>
      <p:sp>
        <p:nvSpPr>
          <p:cNvPr name="Freeform 3" id="3"/>
          <p:cNvSpPr/>
          <p:nvPr/>
        </p:nvSpPr>
        <p:spPr>
          <a:xfrm flipH="false" flipV="false" rot="9533180">
            <a:off x="-2304094" y="-1043282"/>
            <a:ext cx="9108307" cy="7633373"/>
          </a:xfrm>
          <a:custGeom>
            <a:avLst/>
            <a:gdLst/>
            <a:ahLst/>
            <a:cxnLst/>
            <a:rect r="r" b="b" t="t" l="l"/>
            <a:pathLst>
              <a:path h="7633373" w="9108307">
                <a:moveTo>
                  <a:pt x="0" y="0"/>
                </a:moveTo>
                <a:lnTo>
                  <a:pt x="9108307" y="0"/>
                </a:lnTo>
                <a:lnTo>
                  <a:pt x="9108307" y="7633373"/>
                </a:lnTo>
                <a:lnTo>
                  <a:pt x="0" y="7633373"/>
                </a:lnTo>
                <a:lnTo>
                  <a:pt x="0" y="0"/>
                </a:lnTo>
                <a:close/>
              </a:path>
            </a:pathLst>
          </a:custGeom>
          <a:blipFill>
            <a:blip r:embed="rId4"/>
            <a:stretch>
              <a:fillRect l="0" t="0" r="-125760" b="-99006"/>
            </a:stretch>
          </a:blipFill>
        </p:spPr>
      </p:sp>
      <p:sp>
        <p:nvSpPr>
          <p:cNvPr name="Freeform 4" id="4"/>
          <p:cNvSpPr/>
          <p:nvPr/>
        </p:nvSpPr>
        <p:spPr>
          <a:xfrm flipH="false" flipV="false" rot="0">
            <a:off x="12518892" y="-1090517"/>
            <a:ext cx="8408276" cy="4318332"/>
          </a:xfrm>
          <a:custGeom>
            <a:avLst/>
            <a:gdLst/>
            <a:ahLst/>
            <a:cxnLst/>
            <a:rect r="r" b="b" t="t" l="l"/>
            <a:pathLst>
              <a:path h="4318332" w="8408276">
                <a:moveTo>
                  <a:pt x="0" y="0"/>
                </a:moveTo>
                <a:lnTo>
                  <a:pt x="8408276" y="0"/>
                </a:lnTo>
                <a:lnTo>
                  <a:pt x="8408276" y="4318331"/>
                </a:lnTo>
                <a:lnTo>
                  <a:pt x="0" y="4318331"/>
                </a:lnTo>
                <a:lnTo>
                  <a:pt x="0" y="0"/>
                </a:lnTo>
                <a:close/>
              </a:path>
            </a:pathLst>
          </a:custGeom>
          <a:blipFill>
            <a:blip r:embed="rId5">
              <a:alphaModFix amt="90000"/>
            </a:blip>
            <a:stretch>
              <a:fillRect l="0" t="-90573" r="0" b="0"/>
            </a:stretch>
          </a:blipFill>
        </p:spPr>
      </p:sp>
      <p:grpSp>
        <p:nvGrpSpPr>
          <p:cNvPr name="Group 5" id="5"/>
          <p:cNvGrpSpPr/>
          <p:nvPr/>
        </p:nvGrpSpPr>
        <p:grpSpPr>
          <a:xfrm rot="0">
            <a:off x="-134203" y="8677349"/>
            <a:ext cx="18556407" cy="1609651"/>
            <a:chOff x="0" y="0"/>
            <a:chExt cx="4887284" cy="423941"/>
          </a:xfrm>
        </p:grpSpPr>
        <p:sp>
          <p:nvSpPr>
            <p:cNvPr name="Freeform 6" id="6"/>
            <p:cNvSpPr/>
            <p:nvPr/>
          </p:nvSpPr>
          <p:spPr>
            <a:xfrm flipH="false" flipV="false" rot="0">
              <a:off x="0" y="0"/>
              <a:ext cx="4887284" cy="423941"/>
            </a:xfrm>
            <a:custGeom>
              <a:avLst/>
              <a:gdLst/>
              <a:ahLst/>
              <a:cxnLst/>
              <a:rect r="r" b="b" t="t" l="l"/>
              <a:pathLst>
                <a:path h="423941" w="4887284">
                  <a:moveTo>
                    <a:pt x="0" y="0"/>
                  </a:moveTo>
                  <a:lnTo>
                    <a:pt x="4887284" y="0"/>
                  </a:lnTo>
                  <a:lnTo>
                    <a:pt x="4887284" y="423941"/>
                  </a:lnTo>
                  <a:lnTo>
                    <a:pt x="0" y="423941"/>
                  </a:lnTo>
                  <a:close/>
                </a:path>
              </a:pathLst>
            </a:custGeom>
            <a:solidFill>
              <a:srgbClr val="FFFFFF">
                <a:alpha val="14902"/>
              </a:srgbClr>
            </a:solidFill>
          </p:spPr>
        </p:sp>
        <p:sp>
          <p:nvSpPr>
            <p:cNvPr name="TextBox 7" id="7"/>
            <p:cNvSpPr txBox="true"/>
            <p:nvPr/>
          </p:nvSpPr>
          <p:spPr>
            <a:xfrm>
              <a:off x="0" y="0"/>
              <a:ext cx="4887284" cy="423941"/>
            </a:xfrm>
            <a:prstGeom prst="rect">
              <a:avLst/>
            </a:prstGeom>
          </p:spPr>
          <p:txBody>
            <a:bodyPr anchor="ctr" rtlCol="false" tIns="50800" lIns="50800" bIns="50800" rIns="50800"/>
            <a:lstStyle/>
            <a:p>
              <a:pPr algn="ctr">
                <a:lnSpc>
                  <a:spcPts val="2160"/>
                </a:lnSpc>
              </a:pPr>
            </a:p>
          </p:txBody>
        </p:sp>
      </p:grpSp>
      <p:sp>
        <p:nvSpPr>
          <p:cNvPr name="Freeform 8" id="8"/>
          <p:cNvSpPr/>
          <p:nvPr/>
        </p:nvSpPr>
        <p:spPr>
          <a:xfrm flipH="false" flipV="false" rot="0">
            <a:off x="9525" y="53942"/>
            <a:ext cx="4181690" cy="2663719"/>
          </a:xfrm>
          <a:custGeom>
            <a:avLst/>
            <a:gdLst/>
            <a:ahLst/>
            <a:cxnLst/>
            <a:rect r="r" b="b" t="t" l="l"/>
            <a:pathLst>
              <a:path h="2663719" w="4181690">
                <a:moveTo>
                  <a:pt x="0" y="0"/>
                </a:moveTo>
                <a:lnTo>
                  <a:pt x="4181690" y="0"/>
                </a:lnTo>
                <a:lnTo>
                  <a:pt x="4181690" y="2663719"/>
                </a:lnTo>
                <a:lnTo>
                  <a:pt x="0" y="2663719"/>
                </a:lnTo>
                <a:lnTo>
                  <a:pt x="0" y="0"/>
                </a:lnTo>
                <a:close/>
              </a:path>
            </a:pathLst>
          </a:custGeom>
          <a:blipFill>
            <a:blip r:embed="rId6"/>
            <a:stretch>
              <a:fillRect l="0" t="0" r="0" b="0"/>
            </a:stretch>
          </a:blipFill>
        </p:spPr>
      </p:sp>
      <p:sp>
        <p:nvSpPr>
          <p:cNvPr name="Freeform 9" id="9"/>
          <p:cNvSpPr/>
          <p:nvPr/>
        </p:nvSpPr>
        <p:spPr>
          <a:xfrm flipH="false" flipV="false" rot="0">
            <a:off x="14687333" y="53942"/>
            <a:ext cx="3566340" cy="2635382"/>
          </a:xfrm>
          <a:custGeom>
            <a:avLst/>
            <a:gdLst/>
            <a:ahLst/>
            <a:cxnLst/>
            <a:rect r="r" b="b" t="t" l="l"/>
            <a:pathLst>
              <a:path h="2635382" w="3566340">
                <a:moveTo>
                  <a:pt x="0" y="0"/>
                </a:moveTo>
                <a:lnTo>
                  <a:pt x="3566340" y="0"/>
                </a:lnTo>
                <a:lnTo>
                  <a:pt x="3566340" y="2635382"/>
                </a:lnTo>
                <a:lnTo>
                  <a:pt x="0" y="2635382"/>
                </a:lnTo>
                <a:lnTo>
                  <a:pt x="0" y="0"/>
                </a:lnTo>
                <a:close/>
              </a:path>
            </a:pathLst>
          </a:custGeom>
          <a:blipFill>
            <a:blip r:embed="rId7"/>
            <a:stretch>
              <a:fillRect l="0" t="0" r="0" b="0"/>
            </a:stretch>
          </a:blipFill>
        </p:spPr>
      </p:sp>
      <p:sp>
        <p:nvSpPr>
          <p:cNvPr name="TextBox 10" id="10"/>
          <p:cNvSpPr txBox="true"/>
          <p:nvPr/>
        </p:nvSpPr>
        <p:spPr>
          <a:xfrm rot="0">
            <a:off x="4739312" y="3165274"/>
            <a:ext cx="8809376" cy="3152775"/>
          </a:xfrm>
          <a:prstGeom prst="rect">
            <a:avLst/>
          </a:prstGeom>
        </p:spPr>
        <p:txBody>
          <a:bodyPr anchor="t" rtlCol="false" tIns="0" lIns="0" bIns="0" rIns="0">
            <a:spAutoFit/>
          </a:bodyPr>
          <a:lstStyle/>
          <a:p>
            <a:pPr algn="ctr">
              <a:lnSpc>
                <a:spcPts val="12480"/>
              </a:lnSpc>
            </a:pPr>
            <a:r>
              <a:rPr lang="en-US" sz="10400" b="true">
                <a:solidFill>
                  <a:srgbClr val="000000"/>
                </a:solidFill>
                <a:latin typeface="Open Sauce Bold"/>
                <a:ea typeface="Open Sauce Bold"/>
                <a:cs typeface="Open Sauce Bold"/>
                <a:sym typeface="Open Sauce Bold"/>
              </a:rPr>
              <a:t>Transfert Learning</a:t>
            </a:r>
          </a:p>
        </p:txBody>
      </p:sp>
      <p:sp>
        <p:nvSpPr>
          <p:cNvPr name="TextBox 11" id="11"/>
          <p:cNvSpPr txBox="true"/>
          <p:nvPr/>
        </p:nvSpPr>
        <p:spPr>
          <a:xfrm rot="0">
            <a:off x="4181690" y="6635951"/>
            <a:ext cx="9924620" cy="542925"/>
          </a:xfrm>
          <a:prstGeom prst="rect">
            <a:avLst/>
          </a:prstGeom>
        </p:spPr>
        <p:txBody>
          <a:bodyPr anchor="t" rtlCol="false" tIns="0" lIns="0" bIns="0" rIns="0">
            <a:spAutoFit/>
          </a:bodyPr>
          <a:lstStyle/>
          <a:p>
            <a:pPr algn="ctr">
              <a:lnSpc>
                <a:spcPts val="4320"/>
              </a:lnSpc>
              <a:spcBef>
                <a:spcPct val="0"/>
              </a:spcBef>
            </a:pPr>
            <a:r>
              <a:rPr lang="en-US" sz="3600">
                <a:solidFill>
                  <a:srgbClr val="000000"/>
                </a:solidFill>
                <a:latin typeface="Open Sauce"/>
                <a:ea typeface="Open Sauce"/>
                <a:cs typeface="Open Sauce"/>
                <a:sym typeface="Open Sauce"/>
              </a:rPr>
              <a:t>Apprentissage par Transfert</a:t>
            </a:r>
          </a:p>
        </p:txBody>
      </p:sp>
      <p:sp>
        <p:nvSpPr>
          <p:cNvPr name="TextBox 12" id="12"/>
          <p:cNvSpPr txBox="true"/>
          <p:nvPr/>
        </p:nvSpPr>
        <p:spPr>
          <a:xfrm rot="0">
            <a:off x="13815751" y="9482175"/>
            <a:ext cx="3615362" cy="266700"/>
          </a:xfrm>
          <a:prstGeom prst="rect">
            <a:avLst/>
          </a:prstGeom>
        </p:spPr>
        <p:txBody>
          <a:bodyPr anchor="t" rtlCol="false" tIns="0" lIns="0" bIns="0" rIns="0">
            <a:spAutoFit/>
          </a:bodyPr>
          <a:lstStyle/>
          <a:p>
            <a:pPr algn="r">
              <a:lnSpc>
                <a:spcPts val="2160"/>
              </a:lnSpc>
              <a:spcBef>
                <a:spcPct val="0"/>
              </a:spcBef>
            </a:pPr>
            <a:r>
              <a:rPr lang="en-US" sz="1800" spc="179">
                <a:solidFill>
                  <a:srgbClr val="000000"/>
                </a:solidFill>
                <a:latin typeface="Open Sauce"/>
                <a:ea typeface="Open Sauce"/>
                <a:cs typeface="Open Sauce"/>
                <a:sym typeface="Open Sauce"/>
              </a:rPr>
              <a:t>DEEP LEARNING</a:t>
            </a:r>
          </a:p>
        </p:txBody>
      </p:sp>
      <p:sp>
        <p:nvSpPr>
          <p:cNvPr name="TextBox 13" id="13"/>
          <p:cNvSpPr txBox="true"/>
          <p:nvPr/>
        </p:nvSpPr>
        <p:spPr>
          <a:xfrm rot="0">
            <a:off x="566328" y="9482175"/>
            <a:ext cx="3615362" cy="266700"/>
          </a:xfrm>
          <a:prstGeom prst="rect">
            <a:avLst/>
          </a:prstGeom>
        </p:spPr>
        <p:txBody>
          <a:bodyPr anchor="t" rtlCol="false" tIns="0" lIns="0" bIns="0" rIns="0">
            <a:spAutoFit/>
          </a:bodyPr>
          <a:lstStyle/>
          <a:p>
            <a:pPr algn="just">
              <a:lnSpc>
                <a:spcPts val="2160"/>
              </a:lnSpc>
              <a:spcBef>
                <a:spcPct val="0"/>
              </a:spcBef>
            </a:pPr>
            <a:r>
              <a:rPr lang="en-US" sz="1800" spc="179">
                <a:solidFill>
                  <a:srgbClr val="000000"/>
                </a:solidFill>
                <a:latin typeface="Open Sauce"/>
                <a:ea typeface="Open Sauce"/>
                <a:cs typeface="Open Sauce"/>
                <a:sym typeface="Open Sauce"/>
              </a:rPr>
              <a:t>2024 DECEMBER 23</a:t>
            </a:r>
          </a:p>
        </p:txBody>
      </p:sp>
      <p:sp>
        <p:nvSpPr>
          <p:cNvPr name="TextBox 14" id="14"/>
          <p:cNvSpPr txBox="true"/>
          <p:nvPr/>
        </p:nvSpPr>
        <p:spPr>
          <a:xfrm rot="0">
            <a:off x="7270467" y="8767800"/>
            <a:ext cx="3747066" cy="1428750"/>
          </a:xfrm>
          <a:prstGeom prst="rect">
            <a:avLst/>
          </a:prstGeom>
        </p:spPr>
        <p:txBody>
          <a:bodyPr anchor="t" rtlCol="false" tIns="0" lIns="0" bIns="0" rIns="0">
            <a:spAutoFit/>
          </a:bodyPr>
          <a:lstStyle/>
          <a:p>
            <a:pPr algn="ctr">
              <a:lnSpc>
                <a:spcPts val="3767"/>
              </a:lnSpc>
            </a:pPr>
            <a:r>
              <a:rPr lang="en-US" sz="3139">
                <a:solidFill>
                  <a:srgbClr val="000000"/>
                </a:solidFill>
                <a:latin typeface="Open Sauce"/>
                <a:ea typeface="Open Sauce"/>
                <a:cs typeface="Open Sauce"/>
                <a:sym typeface="Open Sauce"/>
              </a:rPr>
              <a:t>Présenté Par :</a:t>
            </a:r>
          </a:p>
          <a:p>
            <a:pPr algn="l">
              <a:lnSpc>
                <a:spcPts val="3767"/>
              </a:lnSpc>
            </a:pPr>
            <a:r>
              <a:rPr lang="en-US" sz="3139">
                <a:solidFill>
                  <a:srgbClr val="000000"/>
                </a:solidFill>
                <a:latin typeface="Open Sauce"/>
                <a:ea typeface="Open Sauce"/>
                <a:cs typeface="Open Sauce"/>
                <a:sym typeface="Open Sauce"/>
              </a:rPr>
              <a:t>Abdellatif CHAKOR</a:t>
            </a:r>
          </a:p>
          <a:p>
            <a:pPr algn="l">
              <a:lnSpc>
                <a:spcPts val="3767"/>
              </a:lnSpc>
              <a:spcBef>
                <a:spcPct val="0"/>
              </a:spcBef>
            </a:pPr>
            <a:r>
              <a:rPr lang="en-US" sz="3139">
                <a:solidFill>
                  <a:srgbClr val="000000"/>
                </a:solidFill>
                <a:latin typeface="Open Sauce"/>
                <a:ea typeface="Open Sauce"/>
                <a:cs typeface="Open Sauce"/>
                <a:sym typeface="Open Sauce"/>
              </a:rPr>
              <a:t>Oussama ELHADJI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5483070" y="7991608"/>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2"/>
            <a:stretch>
              <a:fillRect l="0" t="0" r="0" b="-76306"/>
            </a:stretch>
          </a:blipFill>
        </p:spPr>
      </p:sp>
      <p:sp>
        <p:nvSpPr>
          <p:cNvPr name="Freeform 3" id="3"/>
          <p:cNvSpPr/>
          <p:nvPr/>
        </p:nvSpPr>
        <p:spPr>
          <a:xfrm flipH="false" flipV="false" rot="9533180">
            <a:off x="-2589844" y="-1329032"/>
            <a:ext cx="9108307" cy="7633373"/>
          </a:xfrm>
          <a:custGeom>
            <a:avLst/>
            <a:gdLst/>
            <a:ahLst/>
            <a:cxnLst/>
            <a:rect r="r" b="b" t="t" l="l"/>
            <a:pathLst>
              <a:path h="7633373" w="9108307">
                <a:moveTo>
                  <a:pt x="0" y="0"/>
                </a:moveTo>
                <a:lnTo>
                  <a:pt x="9108307" y="0"/>
                </a:lnTo>
                <a:lnTo>
                  <a:pt x="9108307" y="7633373"/>
                </a:lnTo>
                <a:lnTo>
                  <a:pt x="0" y="7633373"/>
                </a:lnTo>
                <a:lnTo>
                  <a:pt x="0" y="0"/>
                </a:lnTo>
                <a:close/>
              </a:path>
            </a:pathLst>
          </a:custGeom>
          <a:blipFill>
            <a:blip r:embed="rId3"/>
            <a:stretch>
              <a:fillRect l="0" t="0" r="-125760" b="-99006"/>
            </a:stretch>
          </a:blipFill>
        </p:spPr>
      </p:sp>
      <p:sp>
        <p:nvSpPr>
          <p:cNvPr name="Freeform 4" id="4"/>
          <p:cNvSpPr/>
          <p:nvPr/>
        </p:nvSpPr>
        <p:spPr>
          <a:xfrm flipH="false" flipV="false" rot="0">
            <a:off x="12804642" y="-1376267"/>
            <a:ext cx="8408276" cy="4318332"/>
          </a:xfrm>
          <a:custGeom>
            <a:avLst/>
            <a:gdLst/>
            <a:ahLst/>
            <a:cxnLst/>
            <a:rect r="r" b="b" t="t" l="l"/>
            <a:pathLst>
              <a:path h="4318332" w="8408276">
                <a:moveTo>
                  <a:pt x="0" y="0"/>
                </a:moveTo>
                <a:lnTo>
                  <a:pt x="8408276" y="0"/>
                </a:lnTo>
                <a:lnTo>
                  <a:pt x="8408276" y="4318331"/>
                </a:lnTo>
                <a:lnTo>
                  <a:pt x="0" y="4318331"/>
                </a:lnTo>
                <a:lnTo>
                  <a:pt x="0" y="0"/>
                </a:lnTo>
                <a:close/>
              </a:path>
            </a:pathLst>
          </a:custGeom>
          <a:blipFill>
            <a:blip r:embed="rId4">
              <a:alphaModFix amt="90000"/>
            </a:blip>
            <a:stretch>
              <a:fillRect l="0" t="-90573" r="0" b="0"/>
            </a:stretch>
          </a:blipFill>
        </p:spPr>
      </p:sp>
      <p:sp>
        <p:nvSpPr>
          <p:cNvPr name="TextBox 5" id="5"/>
          <p:cNvSpPr txBox="true"/>
          <p:nvPr/>
        </p:nvSpPr>
        <p:spPr>
          <a:xfrm rot="0">
            <a:off x="1092890" y="933450"/>
            <a:ext cx="8809376" cy="361950"/>
          </a:xfrm>
          <a:prstGeom prst="rect">
            <a:avLst/>
          </a:prstGeom>
        </p:spPr>
        <p:txBody>
          <a:bodyPr anchor="t" rtlCol="false" tIns="0" lIns="0" bIns="0" rIns="0">
            <a:spAutoFit/>
          </a:bodyPr>
          <a:lstStyle/>
          <a:p>
            <a:pPr algn="l">
              <a:lnSpc>
                <a:spcPts val="2879"/>
              </a:lnSpc>
            </a:pPr>
            <a:r>
              <a:rPr lang="en-US" sz="2400" spc="240">
                <a:solidFill>
                  <a:srgbClr val="000000"/>
                </a:solidFill>
                <a:latin typeface="Open Sauce"/>
                <a:ea typeface="Open Sauce"/>
                <a:cs typeface="Open Sauce"/>
                <a:sym typeface="Open Sauce"/>
              </a:rPr>
              <a:t>TABLE DES MATIÈRES</a:t>
            </a:r>
          </a:p>
        </p:txBody>
      </p:sp>
      <p:sp>
        <p:nvSpPr>
          <p:cNvPr name="AutoShape 6" id="6"/>
          <p:cNvSpPr/>
          <p:nvPr/>
        </p:nvSpPr>
        <p:spPr>
          <a:xfrm>
            <a:off x="1104900" y="1619250"/>
            <a:ext cx="951963" cy="0"/>
          </a:xfrm>
          <a:prstGeom prst="line">
            <a:avLst/>
          </a:prstGeom>
          <a:ln cap="rnd" w="19050">
            <a:solidFill>
              <a:srgbClr val="000000"/>
            </a:solidFill>
            <a:prstDash val="solid"/>
            <a:headEnd type="none" len="sm" w="sm"/>
            <a:tailEnd type="none" len="sm" w="sm"/>
          </a:ln>
        </p:spPr>
      </p:sp>
      <p:sp>
        <p:nvSpPr>
          <p:cNvPr name="TextBox 7" id="7"/>
          <p:cNvSpPr txBox="true"/>
          <p:nvPr/>
        </p:nvSpPr>
        <p:spPr>
          <a:xfrm rot="0">
            <a:off x="2521353" y="2632274"/>
            <a:ext cx="7464522" cy="361950"/>
          </a:xfrm>
          <a:prstGeom prst="rect">
            <a:avLst/>
          </a:prstGeom>
        </p:spPr>
        <p:txBody>
          <a:bodyPr anchor="t" rtlCol="false" tIns="0" lIns="0" bIns="0" rIns="0">
            <a:spAutoFit/>
          </a:bodyPr>
          <a:lstStyle/>
          <a:p>
            <a:pPr algn="l">
              <a:lnSpc>
                <a:spcPts val="2879"/>
              </a:lnSpc>
            </a:pPr>
            <a:r>
              <a:rPr lang="en-US" b="true" sz="2400" spc="240">
                <a:solidFill>
                  <a:srgbClr val="000000"/>
                </a:solidFill>
                <a:latin typeface="Open Sauce Bold"/>
                <a:ea typeface="Open Sauce Bold"/>
                <a:cs typeface="Open Sauce Bold"/>
                <a:sym typeface="Open Sauce Bold"/>
              </a:rPr>
              <a:t>DEFINITION</a:t>
            </a:r>
          </a:p>
        </p:txBody>
      </p:sp>
      <p:sp>
        <p:nvSpPr>
          <p:cNvPr name="TextBox 8" id="8"/>
          <p:cNvSpPr txBox="true"/>
          <p:nvPr/>
        </p:nvSpPr>
        <p:spPr>
          <a:xfrm rot="0">
            <a:off x="13965717" y="2632274"/>
            <a:ext cx="637263" cy="361950"/>
          </a:xfrm>
          <a:prstGeom prst="rect">
            <a:avLst/>
          </a:prstGeom>
        </p:spPr>
        <p:txBody>
          <a:bodyPr anchor="t" rtlCol="false" tIns="0" lIns="0" bIns="0" rIns="0">
            <a:spAutoFit/>
          </a:bodyPr>
          <a:lstStyle/>
          <a:p>
            <a:pPr algn="ctr">
              <a:lnSpc>
                <a:spcPts val="2879"/>
              </a:lnSpc>
            </a:pPr>
            <a:r>
              <a:rPr lang="en-US" sz="2400" spc="240">
                <a:solidFill>
                  <a:srgbClr val="000000"/>
                </a:solidFill>
                <a:latin typeface="Open Sauce"/>
                <a:ea typeface="Open Sauce"/>
                <a:cs typeface="Open Sauce"/>
                <a:sym typeface="Open Sauce"/>
              </a:rPr>
              <a:t>3</a:t>
            </a:r>
          </a:p>
        </p:txBody>
      </p:sp>
      <p:sp>
        <p:nvSpPr>
          <p:cNvPr name="TextBox 9" id="9"/>
          <p:cNvSpPr txBox="true"/>
          <p:nvPr/>
        </p:nvSpPr>
        <p:spPr>
          <a:xfrm rot="0">
            <a:off x="2521353" y="3279974"/>
            <a:ext cx="7464522" cy="361950"/>
          </a:xfrm>
          <a:prstGeom prst="rect">
            <a:avLst/>
          </a:prstGeom>
        </p:spPr>
        <p:txBody>
          <a:bodyPr anchor="t" rtlCol="false" tIns="0" lIns="0" bIns="0" rIns="0">
            <a:spAutoFit/>
          </a:bodyPr>
          <a:lstStyle/>
          <a:p>
            <a:pPr algn="l">
              <a:lnSpc>
                <a:spcPts val="2879"/>
              </a:lnSpc>
            </a:pPr>
            <a:r>
              <a:rPr lang="en-US" b="true" sz="2400" spc="240">
                <a:solidFill>
                  <a:srgbClr val="000000"/>
                </a:solidFill>
                <a:latin typeface="Open Sauce Bold"/>
                <a:ea typeface="Open Sauce Bold"/>
                <a:cs typeface="Open Sauce Bold"/>
                <a:sym typeface="Open Sauce Bold"/>
              </a:rPr>
              <a:t>CONCEPT DU TRANSFERT LEARNING</a:t>
            </a:r>
          </a:p>
        </p:txBody>
      </p:sp>
      <p:sp>
        <p:nvSpPr>
          <p:cNvPr name="TextBox 10" id="10"/>
          <p:cNvSpPr txBox="true"/>
          <p:nvPr/>
        </p:nvSpPr>
        <p:spPr>
          <a:xfrm rot="0">
            <a:off x="13977728" y="3279974"/>
            <a:ext cx="637263" cy="361950"/>
          </a:xfrm>
          <a:prstGeom prst="rect">
            <a:avLst/>
          </a:prstGeom>
        </p:spPr>
        <p:txBody>
          <a:bodyPr anchor="t" rtlCol="false" tIns="0" lIns="0" bIns="0" rIns="0">
            <a:spAutoFit/>
          </a:bodyPr>
          <a:lstStyle/>
          <a:p>
            <a:pPr algn="ctr">
              <a:lnSpc>
                <a:spcPts val="2879"/>
              </a:lnSpc>
            </a:pPr>
            <a:r>
              <a:rPr lang="en-US" sz="2400" spc="240">
                <a:solidFill>
                  <a:srgbClr val="000000"/>
                </a:solidFill>
                <a:latin typeface="Open Sauce"/>
                <a:ea typeface="Open Sauce"/>
                <a:cs typeface="Open Sauce"/>
                <a:sym typeface="Open Sauce"/>
              </a:rPr>
              <a:t>4</a:t>
            </a:r>
          </a:p>
        </p:txBody>
      </p:sp>
      <p:sp>
        <p:nvSpPr>
          <p:cNvPr name="TextBox 11" id="11"/>
          <p:cNvSpPr txBox="true"/>
          <p:nvPr/>
        </p:nvSpPr>
        <p:spPr>
          <a:xfrm rot="0">
            <a:off x="2556822" y="3927674"/>
            <a:ext cx="7464522" cy="361950"/>
          </a:xfrm>
          <a:prstGeom prst="rect">
            <a:avLst/>
          </a:prstGeom>
        </p:spPr>
        <p:txBody>
          <a:bodyPr anchor="t" rtlCol="false" tIns="0" lIns="0" bIns="0" rIns="0">
            <a:spAutoFit/>
          </a:bodyPr>
          <a:lstStyle/>
          <a:p>
            <a:pPr algn="l">
              <a:lnSpc>
                <a:spcPts val="2879"/>
              </a:lnSpc>
            </a:pPr>
            <a:r>
              <a:rPr lang="en-US" b="true" sz="2400" spc="240">
                <a:solidFill>
                  <a:srgbClr val="000000"/>
                </a:solidFill>
                <a:latin typeface="Open Sauce Bold"/>
                <a:ea typeface="Open Sauce Bold"/>
                <a:cs typeface="Open Sauce Bold"/>
                <a:sym typeface="Open Sauce Bold"/>
              </a:rPr>
              <a:t>LES ÉTAPES DU TRANSFERT LEARNING</a:t>
            </a:r>
          </a:p>
        </p:txBody>
      </p:sp>
      <p:sp>
        <p:nvSpPr>
          <p:cNvPr name="TextBox 12" id="12"/>
          <p:cNvSpPr txBox="true"/>
          <p:nvPr/>
        </p:nvSpPr>
        <p:spPr>
          <a:xfrm rot="0">
            <a:off x="13977728" y="3927674"/>
            <a:ext cx="637263" cy="361950"/>
          </a:xfrm>
          <a:prstGeom prst="rect">
            <a:avLst/>
          </a:prstGeom>
        </p:spPr>
        <p:txBody>
          <a:bodyPr anchor="t" rtlCol="false" tIns="0" lIns="0" bIns="0" rIns="0">
            <a:spAutoFit/>
          </a:bodyPr>
          <a:lstStyle/>
          <a:p>
            <a:pPr algn="ctr">
              <a:lnSpc>
                <a:spcPts val="2879"/>
              </a:lnSpc>
            </a:pPr>
            <a:r>
              <a:rPr lang="en-US" sz="2400" spc="240">
                <a:solidFill>
                  <a:srgbClr val="000000"/>
                </a:solidFill>
                <a:latin typeface="Open Sauce"/>
                <a:ea typeface="Open Sauce"/>
                <a:cs typeface="Open Sauce"/>
                <a:sym typeface="Open Sauce"/>
              </a:rPr>
              <a:t>5</a:t>
            </a:r>
          </a:p>
        </p:txBody>
      </p:sp>
      <p:sp>
        <p:nvSpPr>
          <p:cNvPr name="TextBox 13" id="13"/>
          <p:cNvSpPr txBox="true"/>
          <p:nvPr/>
        </p:nvSpPr>
        <p:spPr>
          <a:xfrm rot="0">
            <a:off x="2574557" y="4575374"/>
            <a:ext cx="8510136" cy="361950"/>
          </a:xfrm>
          <a:prstGeom prst="rect">
            <a:avLst/>
          </a:prstGeom>
        </p:spPr>
        <p:txBody>
          <a:bodyPr anchor="t" rtlCol="false" tIns="0" lIns="0" bIns="0" rIns="0">
            <a:spAutoFit/>
          </a:bodyPr>
          <a:lstStyle/>
          <a:p>
            <a:pPr algn="l">
              <a:lnSpc>
                <a:spcPts val="2879"/>
              </a:lnSpc>
            </a:pPr>
            <a:r>
              <a:rPr lang="en-US" b="true" sz="2400" spc="240">
                <a:solidFill>
                  <a:srgbClr val="000000"/>
                </a:solidFill>
                <a:latin typeface="Open Sauce Bold"/>
                <a:ea typeface="Open Sauce Bold"/>
                <a:cs typeface="Open Sauce Bold"/>
                <a:sym typeface="Open Sauce Bold"/>
              </a:rPr>
              <a:t>LES AVANTAGES DU TRANSFERT LEARNING</a:t>
            </a:r>
          </a:p>
        </p:txBody>
      </p:sp>
      <p:sp>
        <p:nvSpPr>
          <p:cNvPr name="TextBox 14" id="14"/>
          <p:cNvSpPr txBox="true"/>
          <p:nvPr/>
        </p:nvSpPr>
        <p:spPr>
          <a:xfrm rot="0">
            <a:off x="13989738" y="4575374"/>
            <a:ext cx="637263" cy="361950"/>
          </a:xfrm>
          <a:prstGeom prst="rect">
            <a:avLst/>
          </a:prstGeom>
        </p:spPr>
        <p:txBody>
          <a:bodyPr anchor="t" rtlCol="false" tIns="0" lIns="0" bIns="0" rIns="0">
            <a:spAutoFit/>
          </a:bodyPr>
          <a:lstStyle/>
          <a:p>
            <a:pPr algn="ctr">
              <a:lnSpc>
                <a:spcPts val="2879"/>
              </a:lnSpc>
            </a:pPr>
            <a:r>
              <a:rPr lang="en-US" sz="2400" spc="240">
                <a:solidFill>
                  <a:srgbClr val="000000"/>
                </a:solidFill>
                <a:latin typeface="Open Sauce"/>
                <a:ea typeface="Open Sauce"/>
                <a:cs typeface="Open Sauce"/>
                <a:sym typeface="Open Sauce"/>
              </a:rPr>
              <a:t>6</a:t>
            </a:r>
          </a:p>
        </p:txBody>
      </p:sp>
      <p:sp>
        <p:nvSpPr>
          <p:cNvPr name="TextBox 15" id="15"/>
          <p:cNvSpPr txBox="true"/>
          <p:nvPr/>
        </p:nvSpPr>
        <p:spPr>
          <a:xfrm rot="0">
            <a:off x="2556822" y="5223074"/>
            <a:ext cx="8527870" cy="361950"/>
          </a:xfrm>
          <a:prstGeom prst="rect">
            <a:avLst/>
          </a:prstGeom>
        </p:spPr>
        <p:txBody>
          <a:bodyPr anchor="t" rtlCol="false" tIns="0" lIns="0" bIns="0" rIns="0">
            <a:spAutoFit/>
          </a:bodyPr>
          <a:lstStyle/>
          <a:p>
            <a:pPr algn="l">
              <a:lnSpc>
                <a:spcPts val="2879"/>
              </a:lnSpc>
            </a:pPr>
            <a:r>
              <a:rPr lang="en-US" b="true" sz="2400" spc="240">
                <a:solidFill>
                  <a:srgbClr val="000000"/>
                </a:solidFill>
                <a:latin typeface="Open Sauce Bold"/>
                <a:ea typeface="Open Sauce Bold"/>
                <a:cs typeface="Open Sauce Bold"/>
                <a:sym typeface="Open Sauce Bold"/>
              </a:rPr>
              <a:t>LES APPLICATIONS DU TRANSFERT LEARNING</a:t>
            </a:r>
          </a:p>
        </p:txBody>
      </p:sp>
      <p:sp>
        <p:nvSpPr>
          <p:cNvPr name="TextBox 16" id="16"/>
          <p:cNvSpPr txBox="true"/>
          <p:nvPr/>
        </p:nvSpPr>
        <p:spPr>
          <a:xfrm rot="0">
            <a:off x="13989738" y="5223074"/>
            <a:ext cx="637263" cy="361950"/>
          </a:xfrm>
          <a:prstGeom prst="rect">
            <a:avLst/>
          </a:prstGeom>
        </p:spPr>
        <p:txBody>
          <a:bodyPr anchor="t" rtlCol="false" tIns="0" lIns="0" bIns="0" rIns="0">
            <a:spAutoFit/>
          </a:bodyPr>
          <a:lstStyle/>
          <a:p>
            <a:pPr algn="ctr">
              <a:lnSpc>
                <a:spcPts val="2879"/>
              </a:lnSpc>
            </a:pPr>
            <a:r>
              <a:rPr lang="en-US" sz="2400" spc="240">
                <a:solidFill>
                  <a:srgbClr val="000000"/>
                </a:solidFill>
                <a:latin typeface="Open Sauce"/>
                <a:ea typeface="Open Sauce"/>
                <a:cs typeface="Open Sauce"/>
                <a:sym typeface="Open Sauce"/>
              </a:rPr>
              <a:t>7</a:t>
            </a:r>
          </a:p>
        </p:txBody>
      </p:sp>
      <p:sp>
        <p:nvSpPr>
          <p:cNvPr name="TextBox 17" id="17"/>
          <p:cNvSpPr txBox="true"/>
          <p:nvPr/>
        </p:nvSpPr>
        <p:spPr>
          <a:xfrm rot="0">
            <a:off x="2574557" y="5870774"/>
            <a:ext cx="8174787" cy="361950"/>
          </a:xfrm>
          <a:prstGeom prst="rect">
            <a:avLst/>
          </a:prstGeom>
        </p:spPr>
        <p:txBody>
          <a:bodyPr anchor="t" rtlCol="false" tIns="0" lIns="0" bIns="0" rIns="0">
            <a:spAutoFit/>
          </a:bodyPr>
          <a:lstStyle/>
          <a:p>
            <a:pPr algn="l">
              <a:lnSpc>
                <a:spcPts val="2879"/>
              </a:lnSpc>
            </a:pPr>
            <a:r>
              <a:rPr lang="en-US" b="true" sz="2400" spc="240">
                <a:solidFill>
                  <a:srgbClr val="000000"/>
                </a:solidFill>
                <a:latin typeface="Open Sauce Bold"/>
                <a:ea typeface="Open Sauce Bold"/>
                <a:cs typeface="Open Sauce Bold"/>
                <a:sym typeface="Open Sauce Bold"/>
              </a:rPr>
              <a:t>LES DIFFÉRENTES MODÈLES PRÉ-ENTRAÎNÉS </a:t>
            </a:r>
          </a:p>
        </p:txBody>
      </p:sp>
      <p:sp>
        <p:nvSpPr>
          <p:cNvPr name="TextBox 18" id="18"/>
          <p:cNvSpPr txBox="true"/>
          <p:nvPr/>
        </p:nvSpPr>
        <p:spPr>
          <a:xfrm rot="0">
            <a:off x="14001749" y="5870774"/>
            <a:ext cx="637263" cy="361950"/>
          </a:xfrm>
          <a:prstGeom prst="rect">
            <a:avLst/>
          </a:prstGeom>
        </p:spPr>
        <p:txBody>
          <a:bodyPr anchor="t" rtlCol="false" tIns="0" lIns="0" bIns="0" rIns="0">
            <a:spAutoFit/>
          </a:bodyPr>
          <a:lstStyle/>
          <a:p>
            <a:pPr algn="ctr">
              <a:lnSpc>
                <a:spcPts val="2879"/>
              </a:lnSpc>
            </a:pPr>
            <a:r>
              <a:rPr lang="en-US" sz="2400" spc="240">
                <a:solidFill>
                  <a:srgbClr val="000000"/>
                </a:solidFill>
                <a:latin typeface="Open Sauce"/>
                <a:ea typeface="Open Sauce"/>
                <a:cs typeface="Open Sauce"/>
                <a:sym typeface="Open Sauce"/>
              </a:rPr>
              <a:t>8</a:t>
            </a:r>
          </a:p>
        </p:txBody>
      </p:sp>
      <p:sp>
        <p:nvSpPr>
          <p:cNvPr name="TextBox 19" id="19"/>
          <p:cNvSpPr txBox="true"/>
          <p:nvPr/>
        </p:nvSpPr>
        <p:spPr>
          <a:xfrm rot="0">
            <a:off x="2556822" y="6518474"/>
            <a:ext cx="7464522" cy="361950"/>
          </a:xfrm>
          <a:prstGeom prst="rect">
            <a:avLst/>
          </a:prstGeom>
        </p:spPr>
        <p:txBody>
          <a:bodyPr anchor="t" rtlCol="false" tIns="0" lIns="0" bIns="0" rIns="0">
            <a:spAutoFit/>
          </a:bodyPr>
          <a:lstStyle/>
          <a:p>
            <a:pPr algn="l">
              <a:lnSpc>
                <a:spcPts val="2879"/>
              </a:lnSpc>
            </a:pPr>
            <a:r>
              <a:rPr lang="en-US" b="true" sz="2400" spc="240">
                <a:solidFill>
                  <a:srgbClr val="000000"/>
                </a:solidFill>
                <a:latin typeface="Open Sauce Bold"/>
                <a:ea typeface="Open Sauce Bold"/>
                <a:cs typeface="Open Sauce Bold"/>
                <a:sym typeface="Open Sauce Bold"/>
              </a:rPr>
              <a:t>CHOISIR LE BON MODÈLE</a:t>
            </a:r>
          </a:p>
        </p:txBody>
      </p:sp>
      <p:sp>
        <p:nvSpPr>
          <p:cNvPr name="TextBox 20" id="20"/>
          <p:cNvSpPr txBox="true"/>
          <p:nvPr/>
        </p:nvSpPr>
        <p:spPr>
          <a:xfrm rot="0">
            <a:off x="14001749" y="6518474"/>
            <a:ext cx="637263" cy="361950"/>
          </a:xfrm>
          <a:prstGeom prst="rect">
            <a:avLst/>
          </a:prstGeom>
        </p:spPr>
        <p:txBody>
          <a:bodyPr anchor="t" rtlCol="false" tIns="0" lIns="0" bIns="0" rIns="0">
            <a:spAutoFit/>
          </a:bodyPr>
          <a:lstStyle/>
          <a:p>
            <a:pPr algn="ctr">
              <a:lnSpc>
                <a:spcPts val="2879"/>
              </a:lnSpc>
            </a:pPr>
            <a:r>
              <a:rPr lang="en-US" sz="2400" spc="240">
                <a:solidFill>
                  <a:srgbClr val="000000"/>
                </a:solidFill>
                <a:latin typeface="Open Sauce"/>
                <a:ea typeface="Open Sauce"/>
                <a:cs typeface="Open Sauce"/>
                <a:sym typeface="Open Sauce"/>
              </a:rPr>
              <a:t>9</a:t>
            </a:r>
          </a:p>
        </p:txBody>
      </p:sp>
      <p:sp>
        <p:nvSpPr>
          <p:cNvPr name="TextBox 21" id="21"/>
          <p:cNvSpPr txBox="true"/>
          <p:nvPr/>
        </p:nvSpPr>
        <p:spPr>
          <a:xfrm rot="0">
            <a:off x="2556822" y="7813874"/>
            <a:ext cx="7464522" cy="361950"/>
          </a:xfrm>
          <a:prstGeom prst="rect">
            <a:avLst/>
          </a:prstGeom>
        </p:spPr>
        <p:txBody>
          <a:bodyPr anchor="t" rtlCol="false" tIns="0" lIns="0" bIns="0" rIns="0">
            <a:spAutoFit/>
          </a:bodyPr>
          <a:lstStyle/>
          <a:p>
            <a:pPr algn="l">
              <a:lnSpc>
                <a:spcPts val="2879"/>
              </a:lnSpc>
            </a:pPr>
            <a:r>
              <a:rPr lang="en-US" b="true" sz="2400" spc="240">
                <a:solidFill>
                  <a:srgbClr val="000000"/>
                </a:solidFill>
                <a:latin typeface="Open Sauce Bold"/>
                <a:ea typeface="Open Sauce Bold"/>
                <a:cs typeface="Open Sauce Bold"/>
                <a:sym typeface="Open Sauce Bold"/>
              </a:rPr>
              <a:t>CONCLUSION</a:t>
            </a:r>
          </a:p>
        </p:txBody>
      </p:sp>
      <p:sp>
        <p:nvSpPr>
          <p:cNvPr name="TextBox 22" id="22"/>
          <p:cNvSpPr txBox="true"/>
          <p:nvPr/>
        </p:nvSpPr>
        <p:spPr>
          <a:xfrm rot="0">
            <a:off x="13965717" y="7813874"/>
            <a:ext cx="637263" cy="361950"/>
          </a:xfrm>
          <a:prstGeom prst="rect">
            <a:avLst/>
          </a:prstGeom>
        </p:spPr>
        <p:txBody>
          <a:bodyPr anchor="t" rtlCol="false" tIns="0" lIns="0" bIns="0" rIns="0">
            <a:spAutoFit/>
          </a:bodyPr>
          <a:lstStyle/>
          <a:p>
            <a:pPr algn="ctr">
              <a:lnSpc>
                <a:spcPts val="2879"/>
              </a:lnSpc>
            </a:pPr>
            <a:r>
              <a:rPr lang="en-US" sz="2400" spc="240">
                <a:solidFill>
                  <a:srgbClr val="000000"/>
                </a:solidFill>
                <a:latin typeface="Open Sauce"/>
                <a:ea typeface="Open Sauce"/>
                <a:cs typeface="Open Sauce"/>
                <a:sym typeface="Open Sauce"/>
              </a:rPr>
              <a:t>11</a:t>
            </a:r>
          </a:p>
        </p:txBody>
      </p:sp>
      <p:sp>
        <p:nvSpPr>
          <p:cNvPr name="TextBox 23" id="23"/>
          <p:cNvSpPr txBox="true"/>
          <p:nvPr/>
        </p:nvSpPr>
        <p:spPr>
          <a:xfrm rot="0">
            <a:off x="2574557" y="7166174"/>
            <a:ext cx="10582774" cy="361950"/>
          </a:xfrm>
          <a:prstGeom prst="rect">
            <a:avLst/>
          </a:prstGeom>
        </p:spPr>
        <p:txBody>
          <a:bodyPr anchor="t" rtlCol="false" tIns="0" lIns="0" bIns="0" rIns="0">
            <a:spAutoFit/>
          </a:bodyPr>
          <a:lstStyle/>
          <a:p>
            <a:pPr algn="l">
              <a:lnSpc>
                <a:spcPts val="2879"/>
              </a:lnSpc>
            </a:pPr>
            <a:r>
              <a:rPr lang="en-US" b="true" sz="2400" spc="240">
                <a:solidFill>
                  <a:srgbClr val="000000"/>
                </a:solidFill>
                <a:latin typeface="Open Sauce Bold"/>
                <a:ea typeface="Open Sauce Bold"/>
                <a:cs typeface="Open Sauce Bold"/>
                <a:sym typeface="Open Sauce Bold"/>
              </a:rPr>
              <a:t>EXEMPLE PRATIQUE DE TRANSFER LEARNING AVEC VGG16</a:t>
            </a:r>
          </a:p>
        </p:txBody>
      </p:sp>
      <p:sp>
        <p:nvSpPr>
          <p:cNvPr name="TextBox 24" id="24"/>
          <p:cNvSpPr txBox="true"/>
          <p:nvPr/>
        </p:nvSpPr>
        <p:spPr>
          <a:xfrm rot="0">
            <a:off x="13965717" y="7166174"/>
            <a:ext cx="637263" cy="361950"/>
          </a:xfrm>
          <a:prstGeom prst="rect">
            <a:avLst/>
          </a:prstGeom>
        </p:spPr>
        <p:txBody>
          <a:bodyPr anchor="t" rtlCol="false" tIns="0" lIns="0" bIns="0" rIns="0">
            <a:spAutoFit/>
          </a:bodyPr>
          <a:lstStyle/>
          <a:p>
            <a:pPr algn="ctr">
              <a:lnSpc>
                <a:spcPts val="2879"/>
              </a:lnSpc>
            </a:pPr>
            <a:r>
              <a:rPr lang="en-US" sz="2400" spc="240">
                <a:solidFill>
                  <a:srgbClr val="000000"/>
                </a:solidFill>
                <a:latin typeface="Open Sauce"/>
                <a:ea typeface="Open Sauce"/>
                <a:cs typeface="Open Sauce"/>
                <a:sym typeface="Open Sauce"/>
              </a:rPr>
              <a:t>10</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03842">
            <a:off x="10687487" y="-898266"/>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3"/>
            <a:stretch>
              <a:fillRect l="0" t="0" r="0" b="-76306"/>
            </a:stretch>
          </a:blipFill>
        </p:spPr>
      </p:sp>
      <p:sp>
        <p:nvSpPr>
          <p:cNvPr name="Freeform 3" id="3"/>
          <p:cNvSpPr/>
          <p:nvPr/>
        </p:nvSpPr>
        <p:spPr>
          <a:xfrm flipH="false" flipV="false" rot="0">
            <a:off x="9320047" y="5632113"/>
            <a:ext cx="9108307" cy="7633373"/>
          </a:xfrm>
          <a:custGeom>
            <a:avLst/>
            <a:gdLst/>
            <a:ahLst/>
            <a:cxnLst/>
            <a:rect r="r" b="b" t="t" l="l"/>
            <a:pathLst>
              <a:path h="7633373" w="9108307">
                <a:moveTo>
                  <a:pt x="0" y="0"/>
                </a:moveTo>
                <a:lnTo>
                  <a:pt x="9108307" y="0"/>
                </a:lnTo>
                <a:lnTo>
                  <a:pt x="9108307" y="7633374"/>
                </a:lnTo>
                <a:lnTo>
                  <a:pt x="0" y="7633374"/>
                </a:lnTo>
                <a:lnTo>
                  <a:pt x="0" y="0"/>
                </a:lnTo>
                <a:close/>
              </a:path>
            </a:pathLst>
          </a:custGeom>
          <a:blipFill>
            <a:blip r:embed="rId4"/>
            <a:stretch>
              <a:fillRect l="0" t="0" r="-125760" b="-99006"/>
            </a:stretch>
          </a:blipFill>
        </p:spPr>
      </p:sp>
      <p:sp>
        <p:nvSpPr>
          <p:cNvPr name="Freeform 4" id="4"/>
          <p:cNvSpPr/>
          <p:nvPr/>
        </p:nvSpPr>
        <p:spPr>
          <a:xfrm flipH="false" flipV="false" rot="-1964104">
            <a:off x="-2676645" y="-863766"/>
            <a:ext cx="8408276" cy="4318332"/>
          </a:xfrm>
          <a:custGeom>
            <a:avLst/>
            <a:gdLst/>
            <a:ahLst/>
            <a:cxnLst/>
            <a:rect r="r" b="b" t="t" l="l"/>
            <a:pathLst>
              <a:path h="4318332" w="8408276">
                <a:moveTo>
                  <a:pt x="0" y="0"/>
                </a:moveTo>
                <a:lnTo>
                  <a:pt x="8408275" y="0"/>
                </a:lnTo>
                <a:lnTo>
                  <a:pt x="8408275" y="4318332"/>
                </a:lnTo>
                <a:lnTo>
                  <a:pt x="0" y="4318332"/>
                </a:lnTo>
                <a:lnTo>
                  <a:pt x="0" y="0"/>
                </a:lnTo>
                <a:close/>
              </a:path>
            </a:pathLst>
          </a:custGeom>
          <a:blipFill>
            <a:blip r:embed="rId5">
              <a:alphaModFix amt="90000"/>
            </a:blip>
            <a:stretch>
              <a:fillRect l="0" t="-90573" r="0" b="0"/>
            </a:stretch>
          </a:blipFill>
        </p:spPr>
      </p:sp>
      <p:sp>
        <p:nvSpPr>
          <p:cNvPr name="AutoShape 5" id="5"/>
          <p:cNvSpPr/>
          <p:nvPr/>
        </p:nvSpPr>
        <p:spPr>
          <a:xfrm>
            <a:off x="1104900" y="1619250"/>
            <a:ext cx="951963" cy="0"/>
          </a:xfrm>
          <a:prstGeom prst="line">
            <a:avLst/>
          </a:prstGeom>
          <a:ln cap="rnd" w="19050">
            <a:solidFill>
              <a:srgbClr val="000000"/>
            </a:solidFill>
            <a:prstDash val="solid"/>
            <a:headEnd type="none" len="sm" w="sm"/>
            <a:tailEnd type="none" len="sm" w="sm"/>
          </a:ln>
        </p:spPr>
      </p:sp>
      <p:sp>
        <p:nvSpPr>
          <p:cNvPr name="TextBox 6" id="6"/>
          <p:cNvSpPr txBox="true"/>
          <p:nvPr/>
        </p:nvSpPr>
        <p:spPr>
          <a:xfrm rot="0">
            <a:off x="16055825" y="9267825"/>
            <a:ext cx="1203475" cy="361950"/>
          </a:xfrm>
          <a:prstGeom prst="rect">
            <a:avLst/>
          </a:prstGeom>
        </p:spPr>
        <p:txBody>
          <a:bodyPr anchor="t" rtlCol="false" tIns="0" lIns="0" bIns="0" rIns="0">
            <a:spAutoFit/>
          </a:bodyPr>
          <a:lstStyle/>
          <a:p>
            <a:pPr algn="r">
              <a:lnSpc>
                <a:spcPts val="2879"/>
              </a:lnSpc>
            </a:pPr>
            <a:r>
              <a:rPr lang="en-US" sz="2400" spc="240">
                <a:solidFill>
                  <a:srgbClr val="000000"/>
                </a:solidFill>
                <a:latin typeface="Open Sauce"/>
                <a:ea typeface="Open Sauce"/>
                <a:cs typeface="Open Sauce"/>
                <a:sym typeface="Open Sauce"/>
              </a:rPr>
              <a:t>3</a:t>
            </a:r>
          </a:p>
        </p:txBody>
      </p:sp>
      <p:sp>
        <p:nvSpPr>
          <p:cNvPr name="TextBox 7" id="7"/>
          <p:cNvSpPr txBox="true"/>
          <p:nvPr/>
        </p:nvSpPr>
        <p:spPr>
          <a:xfrm rot="0">
            <a:off x="1092890" y="933450"/>
            <a:ext cx="8809376" cy="361950"/>
          </a:xfrm>
          <a:prstGeom prst="rect">
            <a:avLst/>
          </a:prstGeom>
        </p:spPr>
        <p:txBody>
          <a:bodyPr anchor="t" rtlCol="false" tIns="0" lIns="0" bIns="0" rIns="0">
            <a:spAutoFit/>
          </a:bodyPr>
          <a:lstStyle/>
          <a:p>
            <a:pPr algn="l">
              <a:lnSpc>
                <a:spcPts val="2879"/>
              </a:lnSpc>
            </a:pPr>
            <a:r>
              <a:rPr lang="en-US" sz="2400" spc="240">
                <a:solidFill>
                  <a:srgbClr val="000000"/>
                </a:solidFill>
                <a:latin typeface="Open Sauce"/>
                <a:ea typeface="Open Sauce"/>
                <a:cs typeface="Open Sauce"/>
                <a:sym typeface="Open Sauce"/>
              </a:rPr>
              <a:t>DEFINITION</a:t>
            </a:r>
          </a:p>
        </p:txBody>
      </p:sp>
      <p:sp>
        <p:nvSpPr>
          <p:cNvPr name="TextBox 8" id="8"/>
          <p:cNvSpPr txBox="true"/>
          <p:nvPr/>
        </p:nvSpPr>
        <p:spPr>
          <a:xfrm rot="0">
            <a:off x="739159" y="3535087"/>
            <a:ext cx="11866714" cy="5443855"/>
          </a:xfrm>
          <a:prstGeom prst="rect">
            <a:avLst/>
          </a:prstGeom>
        </p:spPr>
        <p:txBody>
          <a:bodyPr anchor="t" rtlCol="false" tIns="0" lIns="0" bIns="0" rIns="0">
            <a:spAutoFit/>
          </a:bodyPr>
          <a:lstStyle/>
          <a:p>
            <a:pPr algn="l">
              <a:lnSpc>
                <a:spcPts val="3919"/>
              </a:lnSpc>
            </a:pPr>
            <a:r>
              <a:rPr lang="en-US" sz="2799">
                <a:solidFill>
                  <a:srgbClr val="000000"/>
                </a:solidFill>
                <a:latin typeface="Open Sauce"/>
                <a:ea typeface="Open Sauce"/>
                <a:cs typeface="Open Sauce"/>
                <a:sym typeface="Open Sauce"/>
              </a:rPr>
              <a:t>Le </a:t>
            </a:r>
            <a:r>
              <a:rPr lang="en-US" sz="2799" b="true">
                <a:solidFill>
                  <a:srgbClr val="000000"/>
                </a:solidFill>
                <a:latin typeface="Open Sauce Bold"/>
                <a:ea typeface="Open Sauce Bold"/>
                <a:cs typeface="Open Sauce Bold"/>
                <a:sym typeface="Open Sauce Bold"/>
              </a:rPr>
              <a:t>Transfert Learning</a:t>
            </a:r>
            <a:r>
              <a:rPr lang="en-US" sz="2799">
                <a:solidFill>
                  <a:srgbClr val="000000"/>
                </a:solidFill>
                <a:latin typeface="Open Sauce"/>
                <a:ea typeface="Open Sauce"/>
                <a:cs typeface="Open Sauce"/>
                <a:sym typeface="Open Sauce"/>
              </a:rPr>
              <a:t> ou “</a:t>
            </a:r>
            <a:r>
              <a:rPr lang="en-US" sz="2799" b="true">
                <a:solidFill>
                  <a:srgbClr val="000000"/>
                </a:solidFill>
                <a:latin typeface="Open Sauce Bold"/>
                <a:ea typeface="Open Sauce Bold"/>
                <a:cs typeface="Open Sauce Bold"/>
                <a:sym typeface="Open Sauce Bold"/>
              </a:rPr>
              <a:t>Apprentissage par Transfert”</a:t>
            </a:r>
            <a:r>
              <a:rPr lang="en-US" sz="2799">
                <a:solidFill>
                  <a:srgbClr val="000000"/>
                </a:solidFill>
                <a:latin typeface="Open Sauce"/>
                <a:ea typeface="Open Sauce"/>
                <a:cs typeface="Open Sauce"/>
                <a:sym typeface="Open Sauce"/>
              </a:rPr>
              <a:t> est une technique de machine learning dans laquelle un </a:t>
            </a:r>
            <a:r>
              <a:rPr lang="en-US" sz="2799" b="true">
                <a:solidFill>
                  <a:srgbClr val="000000"/>
                </a:solidFill>
                <a:latin typeface="Open Sauce Bold"/>
                <a:ea typeface="Open Sauce Bold"/>
                <a:cs typeface="Open Sauce Bold"/>
                <a:sym typeface="Open Sauce Bold"/>
              </a:rPr>
              <a:t>modèle pré-entraîné</a:t>
            </a:r>
            <a:r>
              <a:rPr lang="en-US" sz="2799">
                <a:solidFill>
                  <a:srgbClr val="000000"/>
                </a:solidFill>
                <a:latin typeface="Open Sauce"/>
                <a:ea typeface="Open Sauce"/>
                <a:cs typeface="Open Sauce"/>
                <a:sym typeface="Open Sauce"/>
              </a:rPr>
              <a:t> sur une tâche </a:t>
            </a:r>
            <a:r>
              <a:rPr lang="en-US" sz="2799" b="true">
                <a:solidFill>
                  <a:srgbClr val="000000"/>
                </a:solidFill>
                <a:latin typeface="Open Sauce Bold"/>
                <a:ea typeface="Open Sauce Bold"/>
                <a:cs typeface="Open Sauce Bold"/>
                <a:sym typeface="Open Sauce Bold"/>
              </a:rPr>
              <a:t>est réutilisé</a:t>
            </a:r>
            <a:r>
              <a:rPr lang="en-US" sz="2799">
                <a:solidFill>
                  <a:srgbClr val="000000"/>
                </a:solidFill>
                <a:latin typeface="Open Sauce"/>
                <a:ea typeface="Open Sauce"/>
                <a:cs typeface="Open Sauce"/>
                <a:sym typeface="Open Sauce"/>
              </a:rPr>
              <a:t> pour </a:t>
            </a:r>
            <a:r>
              <a:rPr lang="en-US" b="true" sz="2799" i="true" u="sng">
                <a:solidFill>
                  <a:srgbClr val="000000"/>
                </a:solidFill>
                <a:latin typeface="Open Sauce Bold Italics"/>
                <a:ea typeface="Open Sauce Bold Italics"/>
                <a:cs typeface="Open Sauce Bold Italics"/>
                <a:sym typeface="Open Sauce Bold Italics"/>
              </a:rPr>
              <a:t>résoudre une autre tâche similaire</a:t>
            </a:r>
            <a:r>
              <a:rPr lang="en-US" sz="2799">
                <a:solidFill>
                  <a:srgbClr val="000000"/>
                </a:solidFill>
                <a:latin typeface="Open Sauce"/>
                <a:ea typeface="Open Sauce"/>
                <a:cs typeface="Open Sauce"/>
                <a:sym typeface="Open Sauce"/>
              </a:rPr>
              <a:t>. </a:t>
            </a:r>
          </a:p>
          <a:p>
            <a:pPr algn="l">
              <a:lnSpc>
                <a:spcPts val="3919"/>
              </a:lnSpc>
            </a:pPr>
            <a:r>
              <a:rPr lang="en-US" sz="2799">
                <a:solidFill>
                  <a:srgbClr val="000000"/>
                </a:solidFill>
                <a:latin typeface="Open Sauce"/>
                <a:ea typeface="Open Sauce"/>
                <a:cs typeface="Open Sauce"/>
                <a:sym typeface="Open Sauce"/>
              </a:rPr>
              <a:t>Cette approche permet de </a:t>
            </a:r>
            <a:r>
              <a:rPr lang="en-US" b="true" sz="2799" i="true">
                <a:solidFill>
                  <a:srgbClr val="000000"/>
                </a:solidFill>
                <a:latin typeface="Open Sauce Bold Italics"/>
                <a:ea typeface="Open Sauce Bold Italics"/>
                <a:cs typeface="Open Sauce Bold Italics"/>
                <a:sym typeface="Open Sauce Bold Italics"/>
              </a:rPr>
              <a:t>transférer les connaissances</a:t>
            </a:r>
            <a:r>
              <a:rPr lang="en-US" sz="2799">
                <a:solidFill>
                  <a:srgbClr val="000000"/>
                </a:solidFill>
                <a:latin typeface="Open Sauce"/>
                <a:ea typeface="Open Sauce"/>
                <a:cs typeface="Open Sauce"/>
                <a:sym typeface="Open Sauce"/>
              </a:rPr>
              <a:t> acquises lors de l'entraînement d'un modèle sur un large ensemble de données (comme </a:t>
            </a:r>
            <a:r>
              <a:rPr lang="en-US" sz="2799" b="true">
                <a:solidFill>
                  <a:srgbClr val="000000"/>
                </a:solidFill>
                <a:latin typeface="Open Sauce Bold"/>
                <a:ea typeface="Open Sauce Bold"/>
                <a:cs typeface="Open Sauce Bold"/>
                <a:sym typeface="Open Sauce Bold"/>
              </a:rPr>
              <a:t>ImageNet</a:t>
            </a:r>
            <a:r>
              <a:rPr lang="en-US" sz="2799">
                <a:solidFill>
                  <a:srgbClr val="000000"/>
                </a:solidFill>
                <a:latin typeface="Open Sauce"/>
                <a:ea typeface="Open Sauce"/>
                <a:cs typeface="Open Sauce"/>
                <a:sym typeface="Open Sauce"/>
              </a:rPr>
              <a:t> pour </a:t>
            </a:r>
            <a:r>
              <a:rPr lang="en-US" sz="2799" b="true">
                <a:solidFill>
                  <a:srgbClr val="000000"/>
                </a:solidFill>
                <a:latin typeface="Open Sauce Bold"/>
                <a:ea typeface="Open Sauce Bold"/>
                <a:cs typeface="Open Sauce Bold"/>
                <a:sym typeface="Open Sauce Bold"/>
              </a:rPr>
              <a:t>les images</a:t>
            </a:r>
            <a:r>
              <a:rPr lang="en-US" sz="2799">
                <a:solidFill>
                  <a:srgbClr val="000000"/>
                </a:solidFill>
                <a:latin typeface="Open Sauce"/>
                <a:ea typeface="Open Sauce"/>
                <a:cs typeface="Open Sauce"/>
                <a:sym typeface="Open Sauce"/>
              </a:rPr>
              <a:t> ou </a:t>
            </a:r>
            <a:r>
              <a:rPr lang="en-US" sz="2799" b="true">
                <a:solidFill>
                  <a:srgbClr val="000000"/>
                </a:solidFill>
                <a:latin typeface="Open Sauce Bold"/>
                <a:ea typeface="Open Sauce Bold"/>
                <a:cs typeface="Open Sauce Bold"/>
                <a:sym typeface="Open Sauce Bold"/>
              </a:rPr>
              <a:t>BERT</a:t>
            </a:r>
            <a:r>
              <a:rPr lang="en-US" sz="2799">
                <a:solidFill>
                  <a:srgbClr val="000000"/>
                </a:solidFill>
                <a:latin typeface="Open Sauce"/>
                <a:ea typeface="Open Sauce"/>
                <a:cs typeface="Open Sauce"/>
                <a:sym typeface="Open Sauce"/>
              </a:rPr>
              <a:t> pour </a:t>
            </a:r>
            <a:r>
              <a:rPr lang="en-US" sz="2799" b="true">
                <a:solidFill>
                  <a:srgbClr val="000000"/>
                </a:solidFill>
                <a:latin typeface="Open Sauce Bold"/>
                <a:ea typeface="Open Sauce Bold"/>
                <a:cs typeface="Open Sauce Bold"/>
                <a:sym typeface="Open Sauce Bold"/>
              </a:rPr>
              <a:t>le texte</a:t>
            </a:r>
            <a:r>
              <a:rPr lang="en-US" sz="2799">
                <a:solidFill>
                  <a:srgbClr val="000000"/>
                </a:solidFill>
                <a:latin typeface="Open Sauce"/>
                <a:ea typeface="Open Sauce"/>
                <a:cs typeface="Open Sauce"/>
                <a:sym typeface="Open Sauce"/>
              </a:rPr>
              <a:t>) à un problème plus spécifique, où les données disponibles sont limitées. Cette technique est couramment utilisée dans des domaines tels que </a:t>
            </a:r>
            <a:r>
              <a:rPr lang="en-US" sz="2799" b="true">
                <a:solidFill>
                  <a:srgbClr val="000000"/>
                </a:solidFill>
                <a:latin typeface="Open Sauce Bold"/>
                <a:ea typeface="Open Sauce Bold"/>
                <a:cs typeface="Open Sauce Bold"/>
                <a:sym typeface="Open Sauce Bold"/>
              </a:rPr>
              <a:t>la reconnaissance d'images</a:t>
            </a:r>
            <a:r>
              <a:rPr lang="en-US" sz="2799">
                <a:solidFill>
                  <a:srgbClr val="000000"/>
                </a:solidFill>
                <a:latin typeface="Open Sauce"/>
                <a:ea typeface="Open Sauce"/>
                <a:cs typeface="Open Sauce"/>
                <a:sym typeface="Open Sauce"/>
              </a:rPr>
              <a:t>, </a:t>
            </a:r>
            <a:r>
              <a:rPr lang="en-US" sz="2799" b="true">
                <a:solidFill>
                  <a:srgbClr val="000000"/>
                </a:solidFill>
                <a:latin typeface="Open Sauce Bold"/>
                <a:ea typeface="Open Sauce Bold"/>
                <a:cs typeface="Open Sauce Bold"/>
                <a:sym typeface="Open Sauce Bold"/>
              </a:rPr>
              <a:t>le traitement du langage naturel</a:t>
            </a:r>
            <a:r>
              <a:rPr lang="en-US" sz="2799">
                <a:solidFill>
                  <a:srgbClr val="000000"/>
                </a:solidFill>
                <a:latin typeface="Open Sauce"/>
                <a:ea typeface="Open Sauce"/>
                <a:cs typeface="Open Sauce"/>
                <a:sym typeface="Open Sauce"/>
              </a:rPr>
              <a:t> (</a:t>
            </a:r>
            <a:r>
              <a:rPr lang="en-US" sz="2799" i="true">
                <a:solidFill>
                  <a:srgbClr val="000000"/>
                </a:solidFill>
                <a:latin typeface="Open Sauce Italics"/>
                <a:ea typeface="Open Sauce Italics"/>
                <a:cs typeface="Open Sauce Italics"/>
                <a:sym typeface="Open Sauce Italics"/>
              </a:rPr>
              <a:t>NLP</a:t>
            </a:r>
            <a:r>
              <a:rPr lang="en-US" sz="2799">
                <a:solidFill>
                  <a:srgbClr val="000000"/>
                </a:solidFill>
                <a:latin typeface="Open Sauce"/>
                <a:ea typeface="Open Sauce"/>
                <a:cs typeface="Open Sauce"/>
                <a:sym typeface="Open Sauce"/>
              </a:rPr>
              <a:t>) et </a:t>
            </a:r>
            <a:r>
              <a:rPr lang="en-US" sz="2799" b="true">
                <a:solidFill>
                  <a:srgbClr val="000000"/>
                </a:solidFill>
                <a:latin typeface="Open Sauce Bold"/>
                <a:ea typeface="Open Sauce Bold"/>
                <a:cs typeface="Open Sauce Bold"/>
                <a:sym typeface="Open Sauce Bold"/>
              </a:rPr>
              <a:t>l'analyse de données.</a:t>
            </a:r>
          </a:p>
        </p:txBody>
      </p:sp>
      <p:sp>
        <p:nvSpPr>
          <p:cNvPr name="TextBox 9" id="9"/>
          <p:cNvSpPr txBox="true"/>
          <p:nvPr/>
        </p:nvSpPr>
        <p:spPr>
          <a:xfrm rot="0">
            <a:off x="3048403" y="1788202"/>
            <a:ext cx="9911200" cy="1251585"/>
          </a:xfrm>
          <a:prstGeom prst="rect">
            <a:avLst/>
          </a:prstGeom>
        </p:spPr>
        <p:txBody>
          <a:bodyPr anchor="t" rtlCol="false" tIns="0" lIns="0" bIns="0" rIns="0">
            <a:spAutoFit/>
          </a:bodyPr>
          <a:lstStyle/>
          <a:p>
            <a:pPr algn="l">
              <a:lnSpc>
                <a:spcPts val="5040"/>
              </a:lnSpc>
            </a:pPr>
            <a:r>
              <a:rPr lang="en-US" sz="3600" b="true">
                <a:solidFill>
                  <a:srgbClr val="000000"/>
                </a:solidFill>
                <a:latin typeface="Open Sauce Bold"/>
                <a:ea typeface="Open Sauce Bold"/>
                <a:cs typeface="Open Sauce Bold"/>
                <a:sym typeface="Open Sauce Bold"/>
              </a:rPr>
              <a:t>Qu'est-ce que le Transfer Learning ? </a:t>
            </a:r>
          </a:p>
          <a:p>
            <a:pPr algn="l" marL="0" indent="0" lvl="0">
              <a:lnSpc>
                <a:spcPts val="5040"/>
              </a:lnSpc>
              <a:spcBef>
                <a:spcPct val="0"/>
              </a:spcBef>
            </a:pPr>
            <a:r>
              <a:rPr lang="en-US" b="true" sz="3600">
                <a:solidFill>
                  <a:srgbClr val="000000"/>
                </a:solidFill>
                <a:latin typeface="Open Sauce Bold"/>
                <a:ea typeface="Open Sauce Bold"/>
                <a:cs typeface="Open Sauce Bold"/>
                <a:sym typeface="Open Sauce Bold"/>
              </a:rPr>
              <a:t>et Pourquoi est-il important ?</a:t>
            </a:r>
          </a:p>
        </p:txBody>
      </p:sp>
      <p:sp>
        <p:nvSpPr>
          <p:cNvPr name="Freeform 10" id="10"/>
          <p:cNvSpPr/>
          <p:nvPr/>
        </p:nvSpPr>
        <p:spPr>
          <a:xfrm flipH="false" flipV="false" rot="0">
            <a:off x="12959604" y="3750846"/>
            <a:ext cx="5158246" cy="3172362"/>
          </a:xfrm>
          <a:custGeom>
            <a:avLst/>
            <a:gdLst/>
            <a:ahLst/>
            <a:cxnLst/>
            <a:rect r="r" b="b" t="t" l="l"/>
            <a:pathLst>
              <a:path h="3172362" w="5158246">
                <a:moveTo>
                  <a:pt x="0" y="0"/>
                </a:moveTo>
                <a:lnTo>
                  <a:pt x="5158245" y="0"/>
                </a:lnTo>
                <a:lnTo>
                  <a:pt x="5158245" y="3172363"/>
                </a:lnTo>
                <a:lnTo>
                  <a:pt x="0" y="3172363"/>
                </a:lnTo>
                <a:lnTo>
                  <a:pt x="0" y="0"/>
                </a:lnTo>
                <a:close/>
              </a:path>
            </a:pathLst>
          </a:custGeom>
          <a:blipFill>
            <a:blip r:embed="rId6"/>
            <a:stretch>
              <a:fillRect l="0" t="-4101" r="0" b="-4101"/>
            </a:stretch>
          </a:blipFill>
          <a:ln w="19050" cap="rnd">
            <a:solidFill>
              <a:srgbClr val="4D8ECC"/>
            </a:solidFill>
            <a:prstDash val="solid"/>
            <a:round/>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6911820" y="9420358"/>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2"/>
            <a:stretch>
              <a:fillRect l="0" t="0" r="0" b="-76306"/>
            </a:stretch>
          </a:blipFill>
        </p:spPr>
      </p:sp>
      <p:sp>
        <p:nvSpPr>
          <p:cNvPr name="Freeform 3" id="3"/>
          <p:cNvSpPr/>
          <p:nvPr/>
        </p:nvSpPr>
        <p:spPr>
          <a:xfrm flipH="false" flipV="false" rot="9533180">
            <a:off x="-4018594" y="-2757782"/>
            <a:ext cx="9108307" cy="7633373"/>
          </a:xfrm>
          <a:custGeom>
            <a:avLst/>
            <a:gdLst/>
            <a:ahLst/>
            <a:cxnLst/>
            <a:rect r="r" b="b" t="t" l="l"/>
            <a:pathLst>
              <a:path h="7633373" w="9108307">
                <a:moveTo>
                  <a:pt x="0" y="0"/>
                </a:moveTo>
                <a:lnTo>
                  <a:pt x="9108307" y="0"/>
                </a:lnTo>
                <a:lnTo>
                  <a:pt x="9108307" y="7633373"/>
                </a:lnTo>
                <a:lnTo>
                  <a:pt x="0" y="7633373"/>
                </a:lnTo>
                <a:lnTo>
                  <a:pt x="0" y="0"/>
                </a:lnTo>
                <a:close/>
              </a:path>
            </a:pathLst>
          </a:custGeom>
          <a:blipFill>
            <a:blip r:embed="rId3"/>
            <a:stretch>
              <a:fillRect l="0" t="0" r="-125760" b="-99006"/>
            </a:stretch>
          </a:blipFill>
        </p:spPr>
      </p:sp>
      <p:sp>
        <p:nvSpPr>
          <p:cNvPr name="Freeform 4" id="4"/>
          <p:cNvSpPr/>
          <p:nvPr/>
        </p:nvSpPr>
        <p:spPr>
          <a:xfrm flipH="false" flipV="false" rot="0">
            <a:off x="14233392" y="-2805017"/>
            <a:ext cx="8408276" cy="4318332"/>
          </a:xfrm>
          <a:custGeom>
            <a:avLst/>
            <a:gdLst/>
            <a:ahLst/>
            <a:cxnLst/>
            <a:rect r="r" b="b" t="t" l="l"/>
            <a:pathLst>
              <a:path h="4318332" w="8408276">
                <a:moveTo>
                  <a:pt x="0" y="0"/>
                </a:moveTo>
                <a:lnTo>
                  <a:pt x="8408276" y="0"/>
                </a:lnTo>
                <a:lnTo>
                  <a:pt x="8408276" y="4318331"/>
                </a:lnTo>
                <a:lnTo>
                  <a:pt x="0" y="4318331"/>
                </a:lnTo>
                <a:lnTo>
                  <a:pt x="0" y="0"/>
                </a:lnTo>
                <a:close/>
              </a:path>
            </a:pathLst>
          </a:custGeom>
          <a:blipFill>
            <a:blip r:embed="rId4">
              <a:alphaModFix amt="90000"/>
            </a:blip>
            <a:stretch>
              <a:fillRect l="0" t="-90573" r="0" b="0"/>
            </a:stretch>
          </a:blipFill>
        </p:spPr>
      </p:sp>
      <p:sp>
        <p:nvSpPr>
          <p:cNvPr name="AutoShape 5" id="5"/>
          <p:cNvSpPr/>
          <p:nvPr/>
        </p:nvSpPr>
        <p:spPr>
          <a:xfrm>
            <a:off x="1104900" y="1619250"/>
            <a:ext cx="951963" cy="0"/>
          </a:xfrm>
          <a:prstGeom prst="line">
            <a:avLst/>
          </a:prstGeom>
          <a:ln cap="rnd" w="19050">
            <a:solidFill>
              <a:srgbClr val="000000"/>
            </a:solidFill>
            <a:prstDash val="solid"/>
            <a:headEnd type="none" len="sm" w="sm"/>
            <a:tailEnd type="none" len="sm" w="sm"/>
          </a:ln>
        </p:spPr>
      </p:sp>
      <p:sp>
        <p:nvSpPr>
          <p:cNvPr name="TextBox 6" id="6"/>
          <p:cNvSpPr txBox="true"/>
          <p:nvPr/>
        </p:nvSpPr>
        <p:spPr>
          <a:xfrm rot="0">
            <a:off x="1092890" y="933450"/>
            <a:ext cx="8809376" cy="361950"/>
          </a:xfrm>
          <a:prstGeom prst="rect">
            <a:avLst/>
          </a:prstGeom>
        </p:spPr>
        <p:txBody>
          <a:bodyPr anchor="t" rtlCol="false" tIns="0" lIns="0" bIns="0" rIns="0">
            <a:spAutoFit/>
          </a:bodyPr>
          <a:lstStyle/>
          <a:p>
            <a:pPr algn="l">
              <a:lnSpc>
                <a:spcPts val="2879"/>
              </a:lnSpc>
            </a:pPr>
            <a:r>
              <a:rPr lang="en-US" sz="2400" spc="240">
                <a:solidFill>
                  <a:srgbClr val="000000"/>
                </a:solidFill>
                <a:latin typeface="Open Sauce"/>
                <a:ea typeface="Open Sauce"/>
                <a:cs typeface="Open Sauce"/>
                <a:sym typeface="Open Sauce"/>
              </a:rPr>
              <a:t>CONCEPT DU TRANSFERT LEARNING</a:t>
            </a:r>
          </a:p>
        </p:txBody>
      </p:sp>
      <p:sp>
        <p:nvSpPr>
          <p:cNvPr name="TextBox 7" id="7"/>
          <p:cNvSpPr txBox="true"/>
          <p:nvPr/>
        </p:nvSpPr>
        <p:spPr>
          <a:xfrm rot="0">
            <a:off x="16055825" y="9267825"/>
            <a:ext cx="1203475" cy="361950"/>
          </a:xfrm>
          <a:prstGeom prst="rect">
            <a:avLst/>
          </a:prstGeom>
        </p:spPr>
        <p:txBody>
          <a:bodyPr anchor="t" rtlCol="false" tIns="0" lIns="0" bIns="0" rIns="0">
            <a:spAutoFit/>
          </a:bodyPr>
          <a:lstStyle/>
          <a:p>
            <a:pPr algn="r">
              <a:lnSpc>
                <a:spcPts val="2879"/>
              </a:lnSpc>
            </a:pPr>
            <a:r>
              <a:rPr lang="en-US" sz="2400" spc="240">
                <a:solidFill>
                  <a:srgbClr val="000000"/>
                </a:solidFill>
                <a:latin typeface="Open Sauce"/>
                <a:ea typeface="Open Sauce"/>
                <a:cs typeface="Open Sauce"/>
                <a:sym typeface="Open Sauce"/>
              </a:rPr>
              <a:t>4</a:t>
            </a:r>
          </a:p>
        </p:txBody>
      </p:sp>
      <p:sp>
        <p:nvSpPr>
          <p:cNvPr name="TextBox 8" id="8"/>
          <p:cNvSpPr txBox="true"/>
          <p:nvPr/>
        </p:nvSpPr>
        <p:spPr>
          <a:xfrm rot="0">
            <a:off x="1724646" y="6507512"/>
            <a:ext cx="5822936" cy="2690691"/>
          </a:xfrm>
          <a:prstGeom prst="rect">
            <a:avLst/>
          </a:prstGeom>
        </p:spPr>
        <p:txBody>
          <a:bodyPr anchor="t" rtlCol="false" tIns="0" lIns="0" bIns="0" rIns="0">
            <a:spAutoFit/>
          </a:bodyPr>
          <a:lstStyle/>
          <a:p>
            <a:pPr algn="l">
              <a:lnSpc>
                <a:spcPts val="5385"/>
              </a:lnSpc>
            </a:pPr>
            <a:r>
              <a:rPr lang="en-US" sz="3846">
                <a:solidFill>
                  <a:srgbClr val="000000"/>
                </a:solidFill>
                <a:latin typeface="Open Sauce"/>
                <a:ea typeface="Open Sauce"/>
                <a:cs typeface="Open Sauce"/>
                <a:sym typeface="Open Sauce"/>
              </a:rPr>
              <a:t>1. Utiliser un modèle pré-entraîné qui a appris des représentations générales</a:t>
            </a:r>
          </a:p>
        </p:txBody>
      </p:sp>
      <p:sp>
        <p:nvSpPr>
          <p:cNvPr name="TextBox 9" id="9"/>
          <p:cNvSpPr txBox="true"/>
          <p:nvPr/>
        </p:nvSpPr>
        <p:spPr>
          <a:xfrm rot="0">
            <a:off x="9868693" y="6507512"/>
            <a:ext cx="5882551" cy="2673985"/>
          </a:xfrm>
          <a:prstGeom prst="rect">
            <a:avLst/>
          </a:prstGeom>
        </p:spPr>
        <p:txBody>
          <a:bodyPr anchor="t" rtlCol="false" tIns="0" lIns="0" bIns="0" rIns="0">
            <a:spAutoFit/>
          </a:bodyPr>
          <a:lstStyle/>
          <a:p>
            <a:pPr algn="l">
              <a:lnSpc>
                <a:spcPts val="5389"/>
              </a:lnSpc>
            </a:pPr>
            <a:r>
              <a:rPr lang="en-US" sz="3849">
                <a:solidFill>
                  <a:srgbClr val="000000"/>
                </a:solidFill>
                <a:latin typeface="Open Sauce"/>
                <a:ea typeface="Open Sauce"/>
                <a:cs typeface="Open Sauce"/>
                <a:sym typeface="Open Sauce"/>
              </a:rPr>
              <a:t>2. Adapter ce modèle à une nouvelle tâche, souvent plus spéciﬁque.</a:t>
            </a:r>
          </a:p>
          <a:p>
            <a:pPr algn="l">
              <a:lnSpc>
                <a:spcPts val="5389"/>
              </a:lnSpc>
            </a:pPr>
          </a:p>
        </p:txBody>
      </p:sp>
      <p:sp>
        <p:nvSpPr>
          <p:cNvPr name="Freeform 10" id="10"/>
          <p:cNvSpPr/>
          <p:nvPr/>
        </p:nvSpPr>
        <p:spPr>
          <a:xfrm flipH="false" flipV="false" rot="0">
            <a:off x="1376680" y="1831807"/>
            <a:ext cx="6518868" cy="4428055"/>
          </a:xfrm>
          <a:custGeom>
            <a:avLst/>
            <a:gdLst/>
            <a:ahLst/>
            <a:cxnLst/>
            <a:rect r="r" b="b" t="t" l="l"/>
            <a:pathLst>
              <a:path h="4428055" w="6518868">
                <a:moveTo>
                  <a:pt x="0" y="0"/>
                </a:moveTo>
                <a:lnTo>
                  <a:pt x="6518868" y="0"/>
                </a:lnTo>
                <a:lnTo>
                  <a:pt x="6518868" y="4428055"/>
                </a:lnTo>
                <a:lnTo>
                  <a:pt x="0" y="4428055"/>
                </a:lnTo>
                <a:lnTo>
                  <a:pt x="0" y="0"/>
                </a:lnTo>
                <a:close/>
              </a:path>
            </a:pathLst>
          </a:custGeom>
          <a:blipFill>
            <a:blip r:embed="rId5"/>
            <a:stretch>
              <a:fillRect l="-10452" t="0" r="-10452" b="0"/>
            </a:stretch>
          </a:blipFill>
          <a:ln w="19050" cap="rnd">
            <a:solidFill>
              <a:srgbClr val="4D8ECC"/>
            </a:solidFill>
            <a:prstDash val="solid"/>
            <a:round/>
          </a:ln>
        </p:spPr>
      </p:sp>
      <p:sp>
        <p:nvSpPr>
          <p:cNvPr name="Freeform 11" id="11"/>
          <p:cNvSpPr/>
          <p:nvPr/>
        </p:nvSpPr>
        <p:spPr>
          <a:xfrm flipH="false" flipV="false" rot="0">
            <a:off x="9996681" y="1831807"/>
            <a:ext cx="6660881" cy="4428055"/>
          </a:xfrm>
          <a:custGeom>
            <a:avLst/>
            <a:gdLst/>
            <a:ahLst/>
            <a:cxnLst/>
            <a:rect r="r" b="b" t="t" l="l"/>
            <a:pathLst>
              <a:path h="4428055" w="6660881">
                <a:moveTo>
                  <a:pt x="0" y="0"/>
                </a:moveTo>
                <a:lnTo>
                  <a:pt x="6660882" y="0"/>
                </a:lnTo>
                <a:lnTo>
                  <a:pt x="6660882" y="4428055"/>
                </a:lnTo>
                <a:lnTo>
                  <a:pt x="0" y="4428055"/>
                </a:lnTo>
                <a:lnTo>
                  <a:pt x="0" y="0"/>
                </a:lnTo>
                <a:close/>
              </a:path>
            </a:pathLst>
          </a:custGeom>
          <a:blipFill>
            <a:blip r:embed="rId6"/>
            <a:stretch>
              <a:fillRect l="0" t="-1410" r="-1549" b="-2463"/>
            </a:stretch>
          </a:blipFill>
          <a:ln w="19050" cap="rnd">
            <a:solidFill>
              <a:srgbClr val="4D8ECC"/>
            </a:solidFill>
            <a:prstDash val="solid"/>
            <a:round/>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6340320" y="8848858"/>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2"/>
            <a:stretch>
              <a:fillRect l="0" t="0" r="0" b="-76306"/>
            </a:stretch>
          </a:blipFill>
        </p:spPr>
      </p:sp>
      <p:sp>
        <p:nvSpPr>
          <p:cNvPr name="Freeform 3" id="3"/>
          <p:cNvSpPr/>
          <p:nvPr/>
        </p:nvSpPr>
        <p:spPr>
          <a:xfrm flipH="false" flipV="false" rot="9533180">
            <a:off x="-3447094" y="-2186282"/>
            <a:ext cx="9108307" cy="7633373"/>
          </a:xfrm>
          <a:custGeom>
            <a:avLst/>
            <a:gdLst/>
            <a:ahLst/>
            <a:cxnLst/>
            <a:rect r="r" b="b" t="t" l="l"/>
            <a:pathLst>
              <a:path h="7633373" w="9108307">
                <a:moveTo>
                  <a:pt x="0" y="0"/>
                </a:moveTo>
                <a:lnTo>
                  <a:pt x="9108307" y="0"/>
                </a:lnTo>
                <a:lnTo>
                  <a:pt x="9108307" y="7633373"/>
                </a:lnTo>
                <a:lnTo>
                  <a:pt x="0" y="7633373"/>
                </a:lnTo>
                <a:lnTo>
                  <a:pt x="0" y="0"/>
                </a:lnTo>
                <a:close/>
              </a:path>
            </a:pathLst>
          </a:custGeom>
          <a:blipFill>
            <a:blip r:embed="rId3"/>
            <a:stretch>
              <a:fillRect l="0" t="0" r="-125760" b="-99006"/>
            </a:stretch>
          </a:blipFill>
        </p:spPr>
      </p:sp>
      <p:sp>
        <p:nvSpPr>
          <p:cNvPr name="Freeform 4" id="4"/>
          <p:cNvSpPr/>
          <p:nvPr/>
        </p:nvSpPr>
        <p:spPr>
          <a:xfrm flipH="false" flipV="false" rot="0">
            <a:off x="13661892" y="-2233517"/>
            <a:ext cx="8408276" cy="4318332"/>
          </a:xfrm>
          <a:custGeom>
            <a:avLst/>
            <a:gdLst/>
            <a:ahLst/>
            <a:cxnLst/>
            <a:rect r="r" b="b" t="t" l="l"/>
            <a:pathLst>
              <a:path h="4318332" w="8408276">
                <a:moveTo>
                  <a:pt x="0" y="0"/>
                </a:moveTo>
                <a:lnTo>
                  <a:pt x="8408276" y="0"/>
                </a:lnTo>
                <a:lnTo>
                  <a:pt x="8408276" y="4318331"/>
                </a:lnTo>
                <a:lnTo>
                  <a:pt x="0" y="4318331"/>
                </a:lnTo>
                <a:lnTo>
                  <a:pt x="0" y="0"/>
                </a:lnTo>
                <a:close/>
              </a:path>
            </a:pathLst>
          </a:custGeom>
          <a:blipFill>
            <a:blip r:embed="rId4">
              <a:alphaModFix amt="90000"/>
            </a:blip>
            <a:stretch>
              <a:fillRect l="0" t="-90573" r="0" b="0"/>
            </a:stretch>
          </a:blipFill>
        </p:spPr>
      </p:sp>
      <p:sp>
        <p:nvSpPr>
          <p:cNvPr name="AutoShape 5" id="5"/>
          <p:cNvSpPr/>
          <p:nvPr/>
        </p:nvSpPr>
        <p:spPr>
          <a:xfrm>
            <a:off x="1104900" y="1619250"/>
            <a:ext cx="951963" cy="0"/>
          </a:xfrm>
          <a:prstGeom prst="line">
            <a:avLst/>
          </a:prstGeom>
          <a:ln cap="rnd" w="19050">
            <a:solidFill>
              <a:srgbClr val="000000"/>
            </a:solidFill>
            <a:prstDash val="solid"/>
            <a:headEnd type="none" len="sm" w="sm"/>
            <a:tailEnd type="none" len="sm" w="sm"/>
          </a:ln>
        </p:spPr>
      </p:sp>
      <p:grpSp>
        <p:nvGrpSpPr>
          <p:cNvPr name="Group 6" id="6"/>
          <p:cNvGrpSpPr/>
          <p:nvPr/>
        </p:nvGrpSpPr>
        <p:grpSpPr>
          <a:xfrm rot="0">
            <a:off x="13661892" y="3420673"/>
            <a:ext cx="2915638" cy="1613381"/>
            <a:chOff x="0" y="0"/>
            <a:chExt cx="767905" cy="424923"/>
          </a:xfrm>
        </p:grpSpPr>
        <p:sp>
          <p:nvSpPr>
            <p:cNvPr name="Freeform 7" id="7"/>
            <p:cNvSpPr/>
            <p:nvPr/>
          </p:nvSpPr>
          <p:spPr>
            <a:xfrm flipH="false" flipV="false" rot="0">
              <a:off x="0" y="0"/>
              <a:ext cx="767905" cy="424923"/>
            </a:xfrm>
            <a:custGeom>
              <a:avLst/>
              <a:gdLst/>
              <a:ahLst/>
              <a:cxnLst/>
              <a:rect r="r" b="b" t="t" l="l"/>
              <a:pathLst>
                <a:path h="424923" w="767905">
                  <a:moveTo>
                    <a:pt x="79659" y="0"/>
                  </a:moveTo>
                  <a:lnTo>
                    <a:pt x="688245" y="0"/>
                  </a:lnTo>
                  <a:cubicBezTo>
                    <a:pt x="732240" y="0"/>
                    <a:pt x="767905" y="35665"/>
                    <a:pt x="767905" y="79659"/>
                  </a:cubicBezTo>
                  <a:lnTo>
                    <a:pt x="767905" y="345264"/>
                  </a:lnTo>
                  <a:cubicBezTo>
                    <a:pt x="767905" y="389259"/>
                    <a:pt x="732240" y="424923"/>
                    <a:pt x="688245" y="424923"/>
                  </a:cubicBezTo>
                  <a:lnTo>
                    <a:pt x="79659" y="424923"/>
                  </a:lnTo>
                  <a:cubicBezTo>
                    <a:pt x="35665" y="424923"/>
                    <a:pt x="0" y="389259"/>
                    <a:pt x="0" y="345264"/>
                  </a:cubicBezTo>
                  <a:lnTo>
                    <a:pt x="0" y="79659"/>
                  </a:lnTo>
                  <a:cubicBezTo>
                    <a:pt x="0" y="35665"/>
                    <a:pt x="35665" y="0"/>
                    <a:pt x="79659" y="0"/>
                  </a:cubicBezTo>
                  <a:close/>
                </a:path>
              </a:pathLst>
            </a:custGeom>
            <a:solidFill>
              <a:srgbClr val="CFD9E6"/>
            </a:solidFill>
            <a:ln w="19050" cap="rnd">
              <a:solidFill>
                <a:srgbClr val="4D8ECC"/>
              </a:solidFill>
              <a:prstDash val="solid"/>
              <a:round/>
            </a:ln>
          </p:spPr>
        </p:sp>
        <p:sp>
          <p:nvSpPr>
            <p:cNvPr name="TextBox 8" id="8"/>
            <p:cNvSpPr txBox="true"/>
            <p:nvPr/>
          </p:nvSpPr>
          <p:spPr>
            <a:xfrm>
              <a:off x="0" y="0"/>
              <a:ext cx="767905" cy="424923"/>
            </a:xfrm>
            <a:prstGeom prst="rect">
              <a:avLst/>
            </a:prstGeom>
          </p:spPr>
          <p:txBody>
            <a:bodyPr anchor="ctr" rtlCol="false" tIns="50800" lIns="50800" bIns="50800" rIns="50800"/>
            <a:lstStyle/>
            <a:p>
              <a:pPr algn="ctr">
                <a:lnSpc>
                  <a:spcPts val="2879"/>
                </a:lnSpc>
              </a:pPr>
            </a:p>
          </p:txBody>
        </p:sp>
      </p:grpSp>
      <p:sp>
        <p:nvSpPr>
          <p:cNvPr name="AutoShape 9" id="9"/>
          <p:cNvSpPr/>
          <p:nvPr/>
        </p:nvSpPr>
        <p:spPr>
          <a:xfrm>
            <a:off x="1104900" y="2940674"/>
            <a:ext cx="13163009" cy="0"/>
          </a:xfrm>
          <a:prstGeom prst="line">
            <a:avLst/>
          </a:prstGeom>
          <a:ln cap="rnd" w="38100">
            <a:solidFill>
              <a:srgbClr val="4D8ECC"/>
            </a:solidFill>
            <a:prstDash val="solid"/>
            <a:headEnd type="none" len="sm" w="sm"/>
            <a:tailEnd type="none" len="sm" w="sm"/>
          </a:ln>
        </p:spPr>
      </p:sp>
      <p:grpSp>
        <p:nvGrpSpPr>
          <p:cNvPr name="Group 10" id="10"/>
          <p:cNvGrpSpPr/>
          <p:nvPr/>
        </p:nvGrpSpPr>
        <p:grpSpPr>
          <a:xfrm rot="0">
            <a:off x="1092890" y="2822336"/>
            <a:ext cx="236677" cy="2366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8ECC"/>
            </a:solidFill>
          </p:spPr>
        </p:sp>
        <p:sp>
          <p:nvSpPr>
            <p:cNvPr name="TextBox 12" id="12"/>
            <p:cNvSpPr txBox="true"/>
            <p:nvPr/>
          </p:nvSpPr>
          <p:spPr>
            <a:xfrm>
              <a:off x="76200" y="76200"/>
              <a:ext cx="660400" cy="660400"/>
            </a:xfrm>
            <a:prstGeom prst="rect">
              <a:avLst/>
            </a:prstGeom>
          </p:spPr>
          <p:txBody>
            <a:bodyPr anchor="ctr" rtlCol="false" tIns="50800" lIns="50800" bIns="50800" rIns="50800"/>
            <a:lstStyle/>
            <a:p>
              <a:pPr algn="ctr">
                <a:lnSpc>
                  <a:spcPts val="2879"/>
                </a:lnSpc>
              </a:pPr>
            </a:p>
          </p:txBody>
        </p:sp>
      </p:grpSp>
      <p:sp>
        <p:nvSpPr>
          <p:cNvPr name="TextBox 13" id="13"/>
          <p:cNvSpPr txBox="true"/>
          <p:nvPr/>
        </p:nvSpPr>
        <p:spPr>
          <a:xfrm rot="0">
            <a:off x="1092890" y="933450"/>
            <a:ext cx="8809376" cy="361950"/>
          </a:xfrm>
          <a:prstGeom prst="rect">
            <a:avLst/>
          </a:prstGeom>
        </p:spPr>
        <p:txBody>
          <a:bodyPr anchor="t" rtlCol="false" tIns="0" lIns="0" bIns="0" rIns="0">
            <a:spAutoFit/>
          </a:bodyPr>
          <a:lstStyle/>
          <a:p>
            <a:pPr algn="l">
              <a:lnSpc>
                <a:spcPts val="2879"/>
              </a:lnSpc>
            </a:pPr>
            <a:r>
              <a:rPr lang="en-US" sz="2400" spc="240">
                <a:solidFill>
                  <a:srgbClr val="000000"/>
                </a:solidFill>
                <a:latin typeface="Open Sauce"/>
                <a:ea typeface="Open Sauce"/>
                <a:cs typeface="Open Sauce"/>
                <a:sym typeface="Open Sauce"/>
              </a:rPr>
              <a:t>ÉTAPES DU TRANSFERT LEARNING</a:t>
            </a:r>
          </a:p>
        </p:txBody>
      </p:sp>
      <p:sp>
        <p:nvSpPr>
          <p:cNvPr name="TextBox 14" id="14"/>
          <p:cNvSpPr txBox="true"/>
          <p:nvPr/>
        </p:nvSpPr>
        <p:spPr>
          <a:xfrm rot="0">
            <a:off x="16055825" y="9267825"/>
            <a:ext cx="1203475" cy="361950"/>
          </a:xfrm>
          <a:prstGeom prst="rect">
            <a:avLst/>
          </a:prstGeom>
        </p:spPr>
        <p:txBody>
          <a:bodyPr anchor="t" rtlCol="false" tIns="0" lIns="0" bIns="0" rIns="0">
            <a:spAutoFit/>
          </a:bodyPr>
          <a:lstStyle/>
          <a:p>
            <a:pPr algn="r">
              <a:lnSpc>
                <a:spcPts val="2879"/>
              </a:lnSpc>
            </a:pPr>
            <a:r>
              <a:rPr lang="en-US" sz="2400" spc="240">
                <a:solidFill>
                  <a:srgbClr val="000000"/>
                </a:solidFill>
                <a:latin typeface="Open Sauce"/>
                <a:ea typeface="Open Sauce"/>
                <a:cs typeface="Open Sauce"/>
                <a:sym typeface="Open Sauce"/>
              </a:rPr>
              <a:t>5</a:t>
            </a:r>
          </a:p>
        </p:txBody>
      </p:sp>
      <p:sp>
        <p:nvSpPr>
          <p:cNvPr name="TextBox 15" id="15"/>
          <p:cNvSpPr txBox="true"/>
          <p:nvPr/>
        </p:nvSpPr>
        <p:spPr>
          <a:xfrm rot="0">
            <a:off x="1107060" y="3492275"/>
            <a:ext cx="3300023" cy="1481455"/>
          </a:xfrm>
          <a:prstGeom prst="rect">
            <a:avLst/>
          </a:prstGeom>
        </p:spPr>
        <p:txBody>
          <a:bodyPr anchor="t" rtlCol="false" tIns="0" lIns="0" bIns="0" rIns="0">
            <a:spAutoFit/>
          </a:bodyPr>
          <a:lstStyle/>
          <a:p>
            <a:pPr algn="l">
              <a:lnSpc>
                <a:spcPts val="3919"/>
              </a:lnSpc>
            </a:pPr>
            <a:r>
              <a:rPr lang="en-US" sz="2799" b="true">
                <a:solidFill>
                  <a:srgbClr val="000000"/>
                </a:solidFill>
                <a:latin typeface="Open Sauce Bold"/>
                <a:ea typeface="Open Sauce Bold"/>
                <a:cs typeface="Open Sauce Bold"/>
                <a:sym typeface="Open Sauce Bold"/>
              </a:rPr>
              <a:t>La Sélection d’un Modèle Pré-entraîné</a:t>
            </a:r>
          </a:p>
        </p:txBody>
      </p:sp>
      <p:sp>
        <p:nvSpPr>
          <p:cNvPr name="TextBox 16" id="16"/>
          <p:cNvSpPr txBox="true"/>
          <p:nvPr/>
        </p:nvSpPr>
        <p:spPr>
          <a:xfrm rot="0">
            <a:off x="1028700" y="5303869"/>
            <a:ext cx="3235507" cy="3302635"/>
          </a:xfrm>
          <a:prstGeom prst="rect">
            <a:avLst/>
          </a:prstGeom>
        </p:spPr>
        <p:txBody>
          <a:bodyPr anchor="t" rtlCol="false" tIns="0" lIns="0" bIns="0" rIns="0">
            <a:spAutoFit/>
          </a:bodyPr>
          <a:lstStyle/>
          <a:p>
            <a:pPr algn="l">
              <a:lnSpc>
                <a:spcPts val="2240"/>
              </a:lnSpc>
            </a:pPr>
            <a:r>
              <a:rPr lang="en-US" sz="1600">
                <a:solidFill>
                  <a:srgbClr val="000000">
                    <a:alpha val="60000"/>
                  </a:srgbClr>
                </a:solidFill>
                <a:latin typeface="Open Sauce"/>
                <a:ea typeface="Open Sauce"/>
                <a:cs typeface="Open Sauce"/>
                <a:sym typeface="Open Sauce"/>
              </a:rPr>
              <a:t>Utiliser un modèle pré-entraîné sur un large ensemble de données similaires à votre tâche.</a:t>
            </a:r>
          </a:p>
          <a:p>
            <a:pPr algn="l">
              <a:lnSpc>
                <a:spcPts val="2240"/>
              </a:lnSpc>
            </a:pPr>
          </a:p>
          <a:p>
            <a:pPr algn="l">
              <a:lnSpc>
                <a:spcPts val="2240"/>
              </a:lnSpc>
            </a:pPr>
            <a:r>
              <a:rPr lang="en-US" sz="1600">
                <a:solidFill>
                  <a:srgbClr val="000000">
                    <a:alpha val="60000"/>
                  </a:srgbClr>
                </a:solidFill>
                <a:latin typeface="Open Sauce"/>
                <a:ea typeface="Open Sauce"/>
                <a:cs typeface="Open Sauce"/>
                <a:sym typeface="Open Sauce"/>
              </a:rPr>
              <a:t>Par exemple, pour les images, des modèles comme VGG16, ResNet ou Inception sont fréquemment utilisés. Pour le texte, des modèles tels que BERT, GPT ou RoBERTa sont particulièrement populaires.</a:t>
            </a:r>
          </a:p>
        </p:txBody>
      </p:sp>
      <p:sp>
        <p:nvSpPr>
          <p:cNvPr name="TextBox 17" id="17"/>
          <p:cNvSpPr txBox="true"/>
          <p:nvPr/>
        </p:nvSpPr>
        <p:spPr>
          <a:xfrm rot="0">
            <a:off x="5626282" y="3492275"/>
            <a:ext cx="2914349" cy="1481455"/>
          </a:xfrm>
          <a:prstGeom prst="rect">
            <a:avLst/>
          </a:prstGeom>
        </p:spPr>
        <p:txBody>
          <a:bodyPr anchor="t" rtlCol="false" tIns="0" lIns="0" bIns="0" rIns="0">
            <a:spAutoFit/>
          </a:bodyPr>
          <a:lstStyle/>
          <a:p>
            <a:pPr algn="l">
              <a:lnSpc>
                <a:spcPts val="3919"/>
              </a:lnSpc>
            </a:pPr>
            <a:r>
              <a:rPr lang="en-US" sz="2799" b="true">
                <a:solidFill>
                  <a:srgbClr val="000000"/>
                </a:solidFill>
                <a:latin typeface="Open Sauce Bold"/>
                <a:ea typeface="Open Sauce Bold"/>
                <a:cs typeface="Open Sauce Bold"/>
                <a:sym typeface="Open Sauce Bold"/>
              </a:rPr>
              <a:t>Congélation des Couches du Modèle</a:t>
            </a:r>
          </a:p>
        </p:txBody>
      </p:sp>
      <p:sp>
        <p:nvSpPr>
          <p:cNvPr name="TextBox 18" id="18"/>
          <p:cNvSpPr txBox="true"/>
          <p:nvPr/>
        </p:nvSpPr>
        <p:spPr>
          <a:xfrm rot="0">
            <a:off x="5521507" y="5294344"/>
            <a:ext cx="3123899" cy="3588385"/>
          </a:xfrm>
          <a:prstGeom prst="rect">
            <a:avLst/>
          </a:prstGeom>
        </p:spPr>
        <p:txBody>
          <a:bodyPr anchor="t" rtlCol="false" tIns="0" lIns="0" bIns="0" rIns="0">
            <a:spAutoFit/>
          </a:bodyPr>
          <a:lstStyle/>
          <a:p>
            <a:pPr algn="l">
              <a:lnSpc>
                <a:spcPts val="2239"/>
              </a:lnSpc>
            </a:pPr>
            <a:r>
              <a:rPr lang="en-US" sz="1599">
                <a:solidFill>
                  <a:srgbClr val="000000">
                    <a:alpha val="60000"/>
                  </a:srgbClr>
                </a:solidFill>
                <a:latin typeface="Open Sauce"/>
                <a:ea typeface="Open Sauce"/>
                <a:cs typeface="Open Sauce"/>
                <a:sym typeface="Open Sauce"/>
              </a:rPr>
              <a:t>Dans les premiers stades du transfert learning, on gèle généralement les couches du modèle pré-entraîné, ce qui signifie que les poids de ces couches ne sont pas modifiés pendant l’entraînement sur la nouvelle tâche. </a:t>
            </a:r>
          </a:p>
          <a:p>
            <a:pPr algn="l">
              <a:lnSpc>
                <a:spcPts val="2239"/>
              </a:lnSpc>
            </a:pPr>
          </a:p>
          <a:p>
            <a:pPr algn="l">
              <a:lnSpc>
                <a:spcPts val="2239"/>
              </a:lnSpc>
            </a:pPr>
            <a:r>
              <a:rPr lang="en-US" sz="1599">
                <a:solidFill>
                  <a:srgbClr val="000000">
                    <a:alpha val="60000"/>
                  </a:srgbClr>
                </a:solidFill>
                <a:latin typeface="Open Sauce"/>
                <a:ea typeface="Open Sauce"/>
                <a:cs typeface="Open Sauce"/>
                <a:sym typeface="Open Sauce"/>
              </a:rPr>
              <a:t>Cette technique permet de préserver les connaissances acquises lors de l’entraînement initial.</a:t>
            </a:r>
          </a:p>
        </p:txBody>
      </p:sp>
      <p:sp>
        <p:nvSpPr>
          <p:cNvPr name="TextBox 19" id="19"/>
          <p:cNvSpPr txBox="true"/>
          <p:nvPr/>
        </p:nvSpPr>
        <p:spPr>
          <a:xfrm rot="0">
            <a:off x="9983552" y="3492275"/>
            <a:ext cx="3375003" cy="1481455"/>
          </a:xfrm>
          <a:prstGeom prst="rect">
            <a:avLst/>
          </a:prstGeom>
        </p:spPr>
        <p:txBody>
          <a:bodyPr anchor="t" rtlCol="false" tIns="0" lIns="0" bIns="0" rIns="0">
            <a:spAutoFit/>
          </a:bodyPr>
          <a:lstStyle/>
          <a:p>
            <a:pPr algn="l">
              <a:lnSpc>
                <a:spcPts val="3919"/>
              </a:lnSpc>
            </a:pPr>
            <a:r>
              <a:rPr lang="en-US" sz="2799" b="true">
                <a:solidFill>
                  <a:srgbClr val="000000"/>
                </a:solidFill>
                <a:latin typeface="Open Sauce Bold"/>
                <a:ea typeface="Open Sauce Bold"/>
                <a:cs typeface="Open Sauce Bold"/>
                <a:sym typeface="Open Sauce Bold"/>
              </a:rPr>
              <a:t>Ajout de Nouvelles Couches (Fine-Tuning)</a:t>
            </a:r>
          </a:p>
        </p:txBody>
      </p:sp>
      <p:sp>
        <p:nvSpPr>
          <p:cNvPr name="TextBox 20" id="20"/>
          <p:cNvSpPr txBox="true"/>
          <p:nvPr/>
        </p:nvSpPr>
        <p:spPr>
          <a:xfrm rot="0">
            <a:off x="14057560" y="3739925"/>
            <a:ext cx="2340431" cy="986155"/>
          </a:xfrm>
          <a:prstGeom prst="rect">
            <a:avLst/>
          </a:prstGeom>
        </p:spPr>
        <p:txBody>
          <a:bodyPr anchor="t" rtlCol="false" tIns="0" lIns="0" bIns="0" rIns="0">
            <a:spAutoFit/>
          </a:bodyPr>
          <a:lstStyle/>
          <a:p>
            <a:pPr algn="l">
              <a:lnSpc>
                <a:spcPts val="3919"/>
              </a:lnSpc>
            </a:pPr>
            <a:r>
              <a:rPr lang="en-US" sz="2799" b="true">
                <a:solidFill>
                  <a:srgbClr val="000000"/>
                </a:solidFill>
                <a:latin typeface="Open Sauce Bold"/>
                <a:ea typeface="Open Sauce Bold"/>
                <a:cs typeface="Open Sauce Bold"/>
                <a:sym typeface="Open Sauce Bold"/>
              </a:rPr>
              <a:t>Fine-Tuning Complet</a:t>
            </a:r>
          </a:p>
        </p:txBody>
      </p:sp>
      <p:grpSp>
        <p:nvGrpSpPr>
          <p:cNvPr name="Group 21" id="21"/>
          <p:cNvGrpSpPr/>
          <p:nvPr/>
        </p:nvGrpSpPr>
        <p:grpSpPr>
          <a:xfrm rot="0">
            <a:off x="5626282" y="2822336"/>
            <a:ext cx="236677" cy="23667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8ECC"/>
            </a:solidFill>
          </p:spPr>
        </p:sp>
        <p:sp>
          <p:nvSpPr>
            <p:cNvPr name="TextBox 23" id="23"/>
            <p:cNvSpPr txBox="true"/>
            <p:nvPr/>
          </p:nvSpPr>
          <p:spPr>
            <a:xfrm>
              <a:off x="76200" y="76200"/>
              <a:ext cx="660400" cy="660400"/>
            </a:xfrm>
            <a:prstGeom prst="rect">
              <a:avLst/>
            </a:prstGeom>
          </p:spPr>
          <p:txBody>
            <a:bodyPr anchor="ctr" rtlCol="false" tIns="50800" lIns="50800" bIns="50800" rIns="50800"/>
            <a:lstStyle/>
            <a:p>
              <a:pPr algn="ctr">
                <a:lnSpc>
                  <a:spcPts val="2879"/>
                </a:lnSpc>
              </a:pPr>
            </a:p>
          </p:txBody>
        </p:sp>
      </p:grpSp>
      <p:grpSp>
        <p:nvGrpSpPr>
          <p:cNvPr name="Group 24" id="24"/>
          <p:cNvGrpSpPr/>
          <p:nvPr/>
        </p:nvGrpSpPr>
        <p:grpSpPr>
          <a:xfrm rot="0">
            <a:off x="9983552" y="2822336"/>
            <a:ext cx="236677" cy="23667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8ECC"/>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2879"/>
                </a:lnSpc>
              </a:pPr>
            </a:p>
          </p:txBody>
        </p:sp>
      </p:grpSp>
      <p:grpSp>
        <p:nvGrpSpPr>
          <p:cNvPr name="Group 27" id="27"/>
          <p:cNvGrpSpPr/>
          <p:nvPr/>
        </p:nvGrpSpPr>
        <p:grpSpPr>
          <a:xfrm rot="0">
            <a:off x="14057560" y="2730325"/>
            <a:ext cx="420698" cy="420698"/>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8ECC"/>
            </a:solidFill>
          </p:spPr>
        </p:sp>
        <p:sp>
          <p:nvSpPr>
            <p:cNvPr name="TextBox 29" id="29"/>
            <p:cNvSpPr txBox="true"/>
            <p:nvPr/>
          </p:nvSpPr>
          <p:spPr>
            <a:xfrm>
              <a:off x="76200" y="76200"/>
              <a:ext cx="660400" cy="660400"/>
            </a:xfrm>
            <a:prstGeom prst="rect">
              <a:avLst/>
            </a:prstGeom>
          </p:spPr>
          <p:txBody>
            <a:bodyPr anchor="ctr" rtlCol="false" tIns="50800" lIns="50800" bIns="50800" rIns="50800"/>
            <a:lstStyle/>
            <a:p>
              <a:pPr algn="ctr">
                <a:lnSpc>
                  <a:spcPts val="2879"/>
                </a:lnSpc>
              </a:pPr>
            </a:p>
          </p:txBody>
        </p:sp>
      </p:grpSp>
      <p:sp>
        <p:nvSpPr>
          <p:cNvPr name="TextBox 30" id="30"/>
          <p:cNvSpPr txBox="true"/>
          <p:nvPr/>
        </p:nvSpPr>
        <p:spPr>
          <a:xfrm rot="0">
            <a:off x="9796819" y="5294344"/>
            <a:ext cx="3123899" cy="3035935"/>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alpha val="60000"/>
                  </a:srgbClr>
                </a:solidFill>
                <a:latin typeface="Open Sauce"/>
                <a:ea typeface="Open Sauce"/>
                <a:cs typeface="Open Sauce"/>
                <a:sym typeface="Open Sauce"/>
              </a:rPr>
              <a:t>Ajouter des couches spécifiques à la tâche finale, comme une couche dense ou une couche softmax pour une tâche de classification.</a:t>
            </a:r>
          </a:p>
          <a:p>
            <a:pPr algn="l">
              <a:lnSpc>
                <a:spcPts val="2239"/>
              </a:lnSpc>
            </a:pPr>
          </a:p>
          <a:p>
            <a:pPr algn="l" marL="345439" indent="-172720" lvl="1">
              <a:lnSpc>
                <a:spcPts val="2239"/>
              </a:lnSpc>
              <a:buFont typeface="Arial"/>
              <a:buChar char="•"/>
            </a:pPr>
            <a:r>
              <a:rPr lang="en-US" sz="1599">
                <a:solidFill>
                  <a:srgbClr val="000000">
                    <a:alpha val="60000"/>
                  </a:srgbClr>
                </a:solidFill>
                <a:latin typeface="Open Sauce"/>
                <a:ea typeface="Open Sauce"/>
                <a:cs typeface="Open Sauce"/>
                <a:sym typeface="Open Sauce"/>
              </a:rPr>
              <a:t>Ajuster ces couches afin d’adapter le modèle à votre ensemble de données spécifique</a:t>
            </a:r>
          </a:p>
        </p:txBody>
      </p:sp>
      <p:sp>
        <p:nvSpPr>
          <p:cNvPr name="TextBox 31" id="31"/>
          <p:cNvSpPr txBox="true"/>
          <p:nvPr/>
        </p:nvSpPr>
        <p:spPr>
          <a:xfrm rot="0">
            <a:off x="13661892" y="5265605"/>
            <a:ext cx="3440036" cy="2483485"/>
          </a:xfrm>
          <a:prstGeom prst="rect">
            <a:avLst/>
          </a:prstGeom>
        </p:spPr>
        <p:txBody>
          <a:bodyPr anchor="t" rtlCol="false" tIns="0" lIns="0" bIns="0" rIns="0">
            <a:spAutoFit/>
          </a:bodyPr>
          <a:lstStyle/>
          <a:p>
            <a:pPr algn="l">
              <a:lnSpc>
                <a:spcPts val="2239"/>
              </a:lnSpc>
            </a:pPr>
            <a:r>
              <a:rPr lang="en-US" sz="1599">
                <a:solidFill>
                  <a:srgbClr val="000000">
                    <a:alpha val="60000"/>
                  </a:srgbClr>
                </a:solidFill>
                <a:latin typeface="Open Sauce"/>
                <a:ea typeface="Open Sauce"/>
                <a:cs typeface="Open Sauce"/>
                <a:sym typeface="Open Sauce"/>
              </a:rPr>
              <a:t>Dans certains cas, après avoir entraîné les nouvelles couches, il est possible de "dégeler" certaines couches du modèle pré-entraîné et de les ajuster aussi à la nouvelle tâche. C’est cequ’on appelle le ﬁne-tuning complet, ce qui permet une adaptation plus ﬁne à votre problème.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8062304" y="8375198"/>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2"/>
            <a:stretch>
              <a:fillRect l="0" t="0" r="0" b="-76306"/>
            </a:stretch>
          </a:blipFill>
        </p:spPr>
      </p:sp>
      <p:sp>
        <p:nvSpPr>
          <p:cNvPr name="Freeform 3" id="3"/>
          <p:cNvSpPr/>
          <p:nvPr/>
        </p:nvSpPr>
        <p:spPr>
          <a:xfrm flipH="false" flipV="false" rot="9533180">
            <a:off x="-3980068" y="-2197437"/>
            <a:ext cx="9108307" cy="7633373"/>
          </a:xfrm>
          <a:custGeom>
            <a:avLst/>
            <a:gdLst/>
            <a:ahLst/>
            <a:cxnLst/>
            <a:rect r="r" b="b" t="t" l="l"/>
            <a:pathLst>
              <a:path h="7633373" w="9108307">
                <a:moveTo>
                  <a:pt x="0" y="0"/>
                </a:moveTo>
                <a:lnTo>
                  <a:pt x="9108307" y="0"/>
                </a:lnTo>
                <a:lnTo>
                  <a:pt x="9108307" y="7633374"/>
                </a:lnTo>
                <a:lnTo>
                  <a:pt x="0" y="7633374"/>
                </a:lnTo>
                <a:lnTo>
                  <a:pt x="0" y="0"/>
                </a:lnTo>
                <a:close/>
              </a:path>
            </a:pathLst>
          </a:custGeom>
          <a:blipFill>
            <a:blip r:embed="rId3"/>
            <a:stretch>
              <a:fillRect l="0" t="0" r="-125760" b="-99006"/>
            </a:stretch>
          </a:blipFill>
        </p:spPr>
      </p:sp>
      <p:sp>
        <p:nvSpPr>
          <p:cNvPr name="Freeform 4" id="4"/>
          <p:cNvSpPr/>
          <p:nvPr/>
        </p:nvSpPr>
        <p:spPr>
          <a:xfrm flipH="false" flipV="false" rot="0">
            <a:off x="14540760" y="-2525278"/>
            <a:ext cx="8408276" cy="4318332"/>
          </a:xfrm>
          <a:custGeom>
            <a:avLst/>
            <a:gdLst/>
            <a:ahLst/>
            <a:cxnLst/>
            <a:rect r="r" b="b" t="t" l="l"/>
            <a:pathLst>
              <a:path h="4318332" w="8408276">
                <a:moveTo>
                  <a:pt x="0" y="0"/>
                </a:moveTo>
                <a:lnTo>
                  <a:pt x="8408276" y="0"/>
                </a:lnTo>
                <a:lnTo>
                  <a:pt x="8408276" y="4318332"/>
                </a:lnTo>
                <a:lnTo>
                  <a:pt x="0" y="4318332"/>
                </a:lnTo>
                <a:lnTo>
                  <a:pt x="0" y="0"/>
                </a:lnTo>
                <a:close/>
              </a:path>
            </a:pathLst>
          </a:custGeom>
          <a:blipFill>
            <a:blip r:embed="rId4">
              <a:alphaModFix amt="90000"/>
            </a:blip>
            <a:stretch>
              <a:fillRect l="0" t="-90573" r="0" b="0"/>
            </a:stretch>
          </a:blipFill>
        </p:spPr>
      </p:sp>
      <p:grpSp>
        <p:nvGrpSpPr>
          <p:cNvPr name="Group 5" id="5"/>
          <p:cNvGrpSpPr/>
          <p:nvPr/>
        </p:nvGrpSpPr>
        <p:grpSpPr>
          <a:xfrm rot="0">
            <a:off x="1729284" y="2040704"/>
            <a:ext cx="7472397" cy="3328482"/>
            <a:chOff x="0" y="0"/>
            <a:chExt cx="888474" cy="395759"/>
          </a:xfrm>
        </p:grpSpPr>
        <p:sp>
          <p:nvSpPr>
            <p:cNvPr name="Freeform 6" id="6"/>
            <p:cNvSpPr/>
            <p:nvPr/>
          </p:nvSpPr>
          <p:spPr>
            <a:xfrm flipH="false" flipV="false" rot="0">
              <a:off x="0" y="0"/>
              <a:ext cx="888474" cy="395759"/>
            </a:xfrm>
            <a:custGeom>
              <a:avLst/>
              <a:gdLst/>
              <a:ahLst/>
              <a:cxnLst/>
              <a:rect r="r" b="b" t="t" l="l"/>
              <a:pathLst>
                <a:path h="395759" w="888474">
                  <a:moveTo>
                    <a:pt x="31082" y="0"/>
                  </a:moveTo>
                  <a:lnTo>
                    <a:pt x="857392" y="0"/>
                  </a:lnTo>
                  <a:cubicBezTo>
                    <a:pt x="865636" y="0"/>
                    <a:pt x="873542" y="3275"/>
                    <a:pt x="879371" y="9104"/>
                  </a:cubicBezTo>
                  <a:cubicBezTo>
                    <a:pt x="885200" y="14933"/>
                    <a:pt x="888474" y="22839"/>
                    <a:pt x="888474" y="31082"/>
                  </a:cubicBezTo>
                  <a:lnTo>
                    <a:pt x="888474" y="364677"/>
                  </a:lnTo>
                  <a:cubicBezTo>
                    <a:pt x="888474" y="381843"/>
                    <a:pt x="874558" y="395759"/>
                    <a:pt x="857392" y="395759"/>
                  </a:cubicBezTo>
                  <a:lnTo>
                    <a:pt x="31082" y="395759"/>
                  </a:lnTo>
                  <a:cubicBezTo>
                    <a:pt x="13916" y="395759"/>
                    <a:pt x="0" y="381843"/>
                    <a:pt x="0" y="364677"/>
                  </a:cubicBezTo>
                  <a:lnTo>
                    <a:pt x="0" y="31082"/>
                  </a:lnTo>
                  <a:cubicBezTo>
                    <a:pt x="0" y="13916"/>
                    <a:pt x="13916" y="0"/>
                    <a:pt x="31082" y="0"/>
                  </a:cubicBezTo>
                  <a:close/>
                </a:path>
              </a:pathLst>
            </a:custGeom>
            <a:solidFill>
              <a:srgbClr val="EEECEC"/>
            </a:solidFill>
            <a:ln w="19050" cap="rnd">
              <a:solidFill>
                <a:srgbClr val="4D8ECC"/>
              </a:solidFill>
              <a:prstDash val="solid"/>
              <a:round/>
            </a:ln>
          </p:spPr>
        </p:sp>
        <p:sp>
          <p:nvSpPr>
            <p:cNvPr name="TextBox 7" id="7"/>
            <p:cNvSpPr txBox="true"/>
            <p:nvPr/>
          </p:nvSpPr>
          <p:spPr>
            <a:xfrm>
              <a:off x="0" y="0"/>
              <a:ext cx="888474" cy="395759"/>
            </a:xfrm>
            <a:prstGeom prst="rect">
              <a:avLst/>
            </a:prstGeom>
          </p:spPr>
          <p:txBody>
            <a:bodyPr anchor="ctr" rtlCol="false" tIns="50800" lIns="50800" bIns="50800" rIns="50800"/>
            <a:lstStyle/>
            <a:p>
              <a:pPr algn="ctr">
                <a:lnSpc>
                  <a:spcPts val="2879"/>
                </a:lnSpc>
              </a:pPr>
            </a:p>
          </p:txBody>
        </p:sp>
      </p:grpSp>
      <p:grpSp>
        <p:nvGrpSpPr>
          <p:cNvPr name="Group 8" id="8"/>
          <p:cNvGrpSpPr/>
          <p:nvPr/>
        </p:nvGrpSpPr>
        <p:grpSpPr>
          <a:xfrm rot="0">
            <a:off x="1729284" y="5746097"/>
            <a:ext cx="7472397" cy="3270563"/>
            <a:chOff x="0" y="0"/>
            <a:chExt cx="888474" cy="388873"/>
          </a:xfrm>
        </p:grpSpPr>
        <p:sp>
          <p:nvSpPr>
            <p:cNvPr name="Freeform 9" id="9"/>
            <p:cNvSpPr/>
            <p:nvPr/>
          </p:nvSpPr>
          <p:spPr>
            <a:xfrm flipH="false" flipV="false" rot="0">
              <a:off x="0" y="0"/>
              <a:ext cx="888474" cy="388873"/>
            </a:xfrm>
            <a:custGeom>
              <a:avLst/>
              <a:gdLst/>
              <a:ahLst/>
              <a:cxnLst/>
              <a:rect r="r" b="b" t="t" l="l"/>
              <a:pathLst>
                <a:path h="388873" w="888474">
                  <a:moveTo>
                    <a:pt x="31082" y="0"/>
                  </a:moveTo>
                  <a:lnTo>
                    <a:pt x="857392" y="0"/>
                  </a:lnTo>
                  <a:cubicBezTo>
                    <a:pt x="865636" y="0"/>
                    <a:pt x="873542" y="3275"/>
                    <a:pt x="879371" y="9104"/>
                  </a:cubicBezTo>
                  <a:cubicBezTo>
                    <a:pt x="885200" y="14933"/>
                    <a:pt x="888474" y="22839"/>
                    <a:pt x="888474" y="31082"/>
                  </a:cubicBezTo>
                  <a:lnTo>
                    <a:pt x="888474" y="357791"/>
                  </a:lnTo>
                  <a:cubicBezTo>
                    <a:pt x="888474" y="374957"/>
                    <a:pt x="874558" y="388873"/>
                    <a:pt x="857392" y="388873"/>
                  </a:cubicBezTo>
                  <a:lnTo>
                    <a:pt x="31082" y="388873"/>
                  </a:lnTo>
                  <a:cubicBezTo>
                    <a:pt x="22839" y="388873"/>
                    <a:pt x="14933" y="385598"/>
                    <a:pt x="9104" y="379769"/>
                  </a:cubicBezTo>
                  <a:cubicBezTo>
                    <a:pt x="3275" y="373940"/>
                    <a:pt x="0" y="366034"/>
                    <a:pt x="0" y="357791"/>
                  </a:cubicBezTo>
                  <a:lnTo>
                    <a:pt x="0" y="31082"/>
                  </a:lnTo>
                  <a:cubicBezTo>
                    <a:pt x="0" y="13916"/>
                    <a:pt x="13916" y="0"/>
                    <a:pt x="31082" y="0"/>
                  </a:cubicBezTo>
                  <a:close/>
                </a:path>
              </a:pathLst>
            </a:custGeom>
            <a:solidFill>
              <a:srgbClr val="EEECEC"/>
            </a:solidFill>
            <a:ln w="19050" cap="rnd">
              <a:solidFill>
                <a:srgbClr val="4D8ECC"/>
              </a:solidFill>
              <a:prstDash val="solid"/>
              <a:round/>
            </a:ln>
          </p:spPr>
        </p:sp>
        <p:sp>
          <p:nvSpPr>
            <p:cNvPr name="TextBox 10" id="10"/>
            <p:cNvSpPr txBox="true"/>
            <p:nvPr/>
          </p:nvSpPr>
          <p:spPr>
            <a:xfrm>
              <a:off x="0" y="0"/>
              <a:ext cx="888474" cy="388873"/>
            </a:xfrm>
            <a:prstGeom prst="rect">
              <a:avLst/>
            </a:prstGeom>
          </p:spPr>
          <p:txBody>
            <a:bodyPr anchor="ctr" rtlCol="false" tIns="50800" lIns="50800" bIns="50800" rIns="50800"/>
            <a:lstStyle/>
            <a:p>
              <a:pPr algn="ctr">
                <a:lnSpc>
                  <a:spcPts val="2879"/>
                </a:lnSpc>
              </a:pPr>
            </a:p>
          </p:txBody>
        </p:sp>
      </p:grpSp>
      <p:grpSp>
        <p:nvGrpSpPr>
          <p:cNvPr name="Group 11" id="11"/>
          <p:cNvGrpSpPr/>
          <p:nvPr/>
        </p:nvGrpSpPr>
        <p:grpSpPr>
          <a:xfrm rot="0">
            <a:off x="9582759" y="2040704"/>
            <a:ext cx="6975956" cy="697595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33294" y="0"/>
                  </a:moveTo>
                  <a:lnTo>
                    <a:pt x="779506" y="0"/>
                  </a:lnTo>
                  <a:cubicBezTo>
                    <a:pt x="797894" y="0"/>
                    <a:pt x="812800" y="14906"/>
                    <a:pt x="812800" y="33294"/>
                  </a:cubicBezTo>
                  <a:lnTo>
                    <a:pt x="812800" y="779506"/>
                  </a:lnTo>
                  <a:cubicBezTo>
                    <a:pt x="812800" y="797894"/>
                    <a:pt x="797894" y="812800"/>
                    <a:pt x="779506" y="812800"/>
                  </a:cubicBezTo>
                  <a:lnTo>
                    <a:pt x="33294" y="812800"/>
                  </a:lnTo>
                  <a:cubicBezTo>
                    <a:pt x="14906" y="812800"/>
                    <a:pt x="0" y="797894"/>
                    <a:pt x="0" y="779506"/>
                  </a:cubicBezTo>
                  <a:lnTo>
                    <a:pt x="0" y="33294"/>
                  </a:lnTo>
                  <a:cubicBezTo>
                    <a:pt x="0" y="14906"/>
                    <a:pt x="14906" y="0"/>
                    <a:pt x="33294" y="0"/>
                  </a:cubicBezTo>
                  <a:close/>
                </a:path>
              </a:pathLst>
            </a:custGeom>
            <a:solidFill>
              <a:srgbClr val="EEECEC"/>
            </a:solidFill>
            <a:ln w="19050" cap="rnd">
              <a:solidFill>
                <a:srgbClr val="4D8ECC"/>
              </a:solidFill>
              <a:prstDash val="solid"/>
              <a:round/>
            </a:ln>
          </p:spPr>
        </p:sp>
        <p:sp>
          <p:nvSpPr>
            <p:cNvPr name="TextBox 13" id="13"/>
            <p:cNvSpPr txBox="true"/>
            <p:nvPr/>
          </p:nvSpPr>
          <p:spPr>
            <a:xfrm>
              <a:off x="0" y="0"/>
              <a:ext cx="812800" cy="812800"/>
            </a:xfrm>
            <a:prstGeom prst="rect">
              <a:avLst/>
            </a:prstGeom>
          </p:spPr>
          <p:txBody>
            <a:bodyPr anchor="ctr" rtlCol="false" tIns="50800" lIns="50800" bIns="50800" rIns="50800"/>
            <a:lstStyle/>
            <a:p>
              <a:pPr algn="ctr">
                <a:lnSpc>
                  <a:spcPts val="2879"/>
                </a:lnSpc>
              </a:pPr>
            </a:p>
          </p:txBody>
        </p:sp>
      </p:grpSp>
      <p:sp>
        <p:nvSpPr>
          <p:cNvPr name="AutoShape 14" id="14"/>
          <p:cNvSpPr/>
          <p:nvPr/>
        </p:nvSpPr>
        <p:spPr>
          <a:xfrm>
            <a:off x="1104900" y="1619250"/>
            <a:ext cx="951963" cy="0"/>
          </a:xfrm>
          <a:prstGeom prst="line">
            <a:avLst/>
          </a:prstGeom>
          <a:ln cap="rnd" w="19050">
            <a:solidFill>
              <a:srgbClr val="000000"/>
            </a:solidFill>
            <a:prstDash val="solid"/>
            <a:headEnd type="none" len="sm" w="sm"/>
            <a:tailEnd type="none" len="sm" w="sm"/>
          </a:ln>
        </p:spPr>
      </p:sp>
      <p:sp>
        <p:nvSpPr>
          <p:cNvPr name="Freeform 15" id="15"/>
          <p:cNvSpPr/>
          <p:nvPr/>
        </p:nvSpPr>
        <p:spPr>
          <a:xfrm flipH="false" flipV="false" rot="0">
            <a:off x="2095289" y="2739604"/>
            <a:ext cx="2017806" cy="1900406"/>
          </a:xfrm>
          <a:custGeom>
            <a:avLst/>
            <a:gdLst/>
            <a:ahLst/>
            <a:cxnLst/>
            <a:rect r="r" b="b" t="t" l="l"/>
            <a:pathLst>
              <a:path h="1900406" w="2017806">
                <a:moveTo>
                  <a:pt x="0" y="0"/>
                </a:moveTo>
                <a:lnTo>
                  <a:pt x="2017805" y="0"/>
                </a:lnTo>
                <a:lnTo>
                  <a:pt x="2017805" y="1900406"/>
                </a:lnTo>
                <a:lnTo>
                  <a:pt x="0" y="19004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6676653" y="6449714"/>
            <a:ext cx="2038318" cy="1514936"/>
          </a:xfrm>
          <a:custGeom>
            <a:avLst/>
            <a:gdLst/>
            <a:ahLst/>
            <a:cxnLst/>
            <a:rect r="r" b="b" t="t" l="l"/>
            <a:pathLst>
              <a:path h="1514936" w="2038318">
                <a:moveTo>
                  <a:pt x="0" y="0"/>
                </a:moveTo>
                <a:lnTo>
                  <a:pt x="2038317" y="0"/>
                </a:lnTo>
                <a:lnTo>
                  <a:pt x="2038317" y="1514936"/>
                </a:lnTo>
                <a:lnTo>
                  <a:pt x="0" y="1514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pic>
        <p:nvPicPr>
          <p:cNvPr name="Picture 17" id="17"/>
          <p:cNvPicPr>
            <a:picLocks noChangeAspect="true"/>
          </p:cNvPicPr>
          <p:nvPr/>
        </p:nvPicPr>
        <p:blipFill>
          <a:blip r:embed="rId9"/>
          <a:srcRect l="0" t="0" r="0" b="0"/>
          <a:stretch>
            <a:fillRect/>
          </a:stretch>
        </p:blipFill>
        <p:spPr>
          <a:xfrm flipH="false" flipV="false" rot="0">
            <a:off x="10908867" y="3054926"/>
            <a:ext cx="4323741" cy="2832050"/>
          </a:xfrm>
          <a:prstGeom prst="rect">
            <a:avLst/>
          </a:prstGeom>
        </p:spPr>
      </p:pic>
      <p:sp>
        <p:nvSpPr>
          <p:cNvPr name="TextBox 18" id="18"/>
          <p:cNvSpPr txBox="true"/>
          <p:nvPr/>
        </p:nvSpPr>
        <p:spPr>
          <a:xfrm rot="0">
            <a:off x="16055825" y="9267825"/>
            <a:ext cx="1203475" cy="361950"/>
          </a:xfrm>
          <a:prstGeom prst="rect">
            <a:avLst/>
          </a:prstGeom>
        </p:spPr>
        <p:txBody>
          <a:bodyPr anchor="t" rtlCol="false" tIns="0" lIns="0" bIns="0" rIns="0">
            <a:spAutoFit/>
          </a:bodyPr>
          <a:lstStyle/>
          <a:p>
            <a:pPr algn="r">
              <a:lnSpc>
                <a:spcPts val="2879"/>
              </a:lnSpc>
            </a:pPr>
            <a:r>
              <a:rPr lang="en-US" sz="2400" spc="240">
                <a:solidFill>
                  <a:srgbClr val="000000"/>
                </a:solidFill>
                <a:latin typeface="Open Sauce"/>
                <a:ea typeface="Open Sauce"/>
                <a:cs typeface="Open Sauce"/>
                <a:sym typeface="Open Sauce"/>
              </a:rPr>
              <a:t>6</a:t>
            </a:r>
          </a:p>
        </p:txBody>
      </p:sp>
      <p:sp>
        <p:nvSpPr>
          <p:cNvPr name="TextBox 19" id="19"/>
          <p:cNvSpPr txBox="true"/>
          <p:nvPr/>
        </p:nvSpPr>
        <p:spPr>
          <a:xfrm rot="0">
            <a:off x="11072413" y="6566991"/>
            <a:ext cx="3996650" cy="1628775"/>
          </a:xfrm>
          <a:prstGeom prst="rect">
            <a:avLst/>
          </a:prstGeom>
        </p:spPr>
        <p:txBody>
          <a:bodyPr anchor="t" rtlCol="false" tIns="0" lIns="0" bIns="0" rIns="0">
            <a:spAutoFit/>
          </a:bodyPr>
          <a:lstStyle/>
          <a:p>
            <a:pPr algn="ctr">
              <a:lnSpc>
                <a:spcPts val="4320"/>
              </a:lnSpc>
            </a:pPr>
            <a:r>
              <a:rPr lang="en-US" sz="3600">
                <a:solidFill>
                  <a:srgbClr val="000000"/>
                </a:solidFill>
                <a:latin typeface="Open Sauce"/>
                <a:ea typeface="Open Sauce"/>
                <a:cs typeface="Open Sauce"/>
                <a:sym typeface="Open Sauce"/>
              </a:rPr>
              <a:t>Optimisation des ressources de calcul</a:t>
            </a:r>
          </a:p>
        </p:txBody>
      </p:sp>
      <p:sp>
        <p:nvSpPr>
          <p:cNvPr name="TextBox 20" id="20"/>
          <p:cNvSpPr txBox="true"/>
          <p:nvPr/>
        </p:nvSpPr>
        <p:spPr>
          <a:xfrm rot="0">
            <a:off x="4662497" y="2570545"/>
            <a:ext cx="3835858" cy="1628775"/>
          </a:xfrm>
          <a:prstGeom prst="rect">
            <a:avLst/>
          </a:prstGeom>
        </p:spPr>
        <p:txBody>
          <a:bodyPr anchor="t" rtlCol="false" tIns="0" lIns="0" bIns="0" rIns="0">
            <a:spAutoFit/>
          </a:bodyPr>
          <a:lstStyle/>
          <a:p>
            <a:pPr algn="l" marL="0" indent="0" lvl="0">
              <a:lnSpc>
                <a:spcPts val="4320"/>
              </a:lnSpc>
              <a:spcBef>
                <a:spcPct val="0"/>
              </a:spcBef>
            </a:pPr>
            <a:r>
              <a:rPr lang="en-US" sz="3600">
                <a:solidFill>
                  <a:srgbClr val="000000"/>
                </a:solidFill>
                <a:latin typeface="Open Sauce"/>
                <a:ea typeface="Open Sauce"/>
                <a:cs typeface="Open Sauce"/>
                <a:sym typeface="Open Sauce"/>
              </a:rPr>
              <a:t>Réduction du temps d’entraînement</a:t>
            </a:r>
          </a:p>
        </p:txBody>
      </p:sp>
      <p:sp>
        <p:nvSpPr>
          <p:cNvPr name="TextBox 21" id="21"/>
          <p:cNvSpPr txBox="true"/>
          <p:nvPr/>
        </p:nvSpPr>
        <p:spPr>
          <a:xfrm rot="0">
            <a:off x="2095289" y="6295529"/>
            <a:ext cx="3835858" cy="1085850"/>
          </a:xfrm>
          <a:prstGeom prst="rect">
            <a:avLst/>
          </a:prstGeom>
        </p:spPr>
        <p:txBody>
          <a:bodyPr anchor="t" rtlCol="false" tIns="0" lIns="0" bIns="0" rIns="0">
            <a:spAutoFit/>
          </a:bodyPr>
          <a:lstStyle/>
          <a:p>
            <a:pPr algn="ctr" marL="0" indent="0" lvl="0">
              <a:lnSpc>
                <a:spcPts val="4320"/>
              </a:lnSpc>
              <a:spcBef>
                <a:spcPct val="0"/>
              </a:spcBef>
            </a:pPr>
            <a:r>
              <a:rPr lang="en-US" sz="3600">
                <a:solidFill>
                  <a:srgbClr val="000000"/>
                </a:solidFill>
                <a:latin typeface="Open Sauce"/>
                <a:ea typeface="Open Sauce"/>
                <a:cs typeface="Open Sauce"/>
                <a:sym typeface="Open Sauce"/>
              </a:rPr>
              <a:t>Meilleure performance</a:t>
            </a:r>
          </a:p>
        </p:txBody>
      </p:sp>
      <p:sp>
        <p:nvSpPr>
          <p:cNvPr name="TextBox 22" id="22"/>
          <p:cNvSpPr txBox="true"/>
          <p:nvPr/>
        </p:nvSpPr>
        <p:spPr>
          <a:xfrm rot="0">
            <a:off x="1092890" y="933450"/>
            <a:ext cx="8809376" cy="361950"/>
          </a:xfrm>
          <a:prstGeom prst="rect">
            <a:avLst/>
          </a:prstGeom>
        </p:spPr>
        <p:txBody>
          <a:bodyPr anchor="t" rtlCol="false" tIns="0" lIns="0" bIns="0" rIns="0">
            <a:spAutoFit/>
          </a:bodyPr>
          <a:lstStyle/>
          <a:p>
            <a:pPr algn="l">
              <a:lnSpc>
                <a:spcPts val="2879"/>
              </a:lnSpc>
            </a:pPr>
            <a:r>
              <a:rPr lang="en-US" sz="2400" spc="240">
                <a:solidFill>
                  <a:srgbClr val="000000"/>
                </a:solidFill>
                <a:latin typeface="Open Sauce"/>
                <a:ea typeface="Open Sauce"/>
                <a:cs typeface="Open Sauce"/>
                <a:sym typeface="Open Sauce"/>
              </a:rPr>
              <a:t>AVANTAGES DU TRANSFERT LEARNING</a:t>
            </a:r>
          </a:p>
        </p:txBody>
      </p:sp>
      <p:sp>
        <p:nvSpPr>
          <p:cNvPr name="TextBox 23" id="23"/>
          <p:cNvSpPr txBox="true"/>
          <p:nvPr/>
        </p:nvSpPr>
        <p:spPr>
          <a:xfrm rot="0">
            <a:off x="4673461" y="4243071"/>
            <a:ext cx="4348931" cy="900429"/>
          </a:xfrm>
          <a:prstGeom prst="rect">
            <a:avLst/>
          </a:prstGeom>
        </p:spPr>
        <p:txBody>
          <a:bodyPr anchor="t" rtlCol="false" tIns="0" lIns="0" bIns="0" rIns="0">
            <a:spAutoFit/>
          </a:bodyPr>
          <a:lstStyle/>
          <a:p>
            <a:pPr algn="l">
              <a:lnSpc>
                <a:spcPts val="1820"/>
              </a:lnSpc>
            </a:pPr>
            <a:r>
              <a:rPr lang="en-US" sz="1300">
                <a:solidFill>
                  <a:srgbClr val="000000">
                    <a:alpha val="60000"/>
                  </a:srgbClr>
                </a:solidFill>
                <a:latin typeface="Open Sauce"/>
                <a:ea typeface="Open Sauce"/>
                <a:cs typeface="Open Sauce"/>
                <a:sym typeface="Open Sauce"/>
              </a:rPr>
              <a:t>Puisque le modèle a déjà appris sur un ensemble de données important, il nécessite moins de données pour s’adapter à la nouvelle tâche</a:t>
            </a:r>
          </a:p>
          <a:p>
            <a:pPr algn="l">
              <a:lnSpc>
                <a:spcPts val="1820"/>
              </a:lnSpc>
            </a:pPr>
          </a:p>
        </p:txBody>
      </p:sp>
      <p:sp>
        <p:nvSpPr>
          <p:cNvPr name="TextBox 24" id="24"/>
          <p:cNvSpPr txBox="true"/>
          <p:nvPr/>
        </p:nvSpPr>
        <p:spPr>
          <a:xfrm rot="0">
            <a:off x="2095289" y="7608022"/>
            <a:ext cx="4348931" cy="900429"/>
          </a:xfrm>
          <a:prstGeom prst="rect">
            <a:avLst/>
          </a:prstGeom>
        </p:spPr>
        <p:txBody>
          <a:bodyPr anchor="t" rtlCol="false" tIns="0" lIns="0" bIns="0" rIns="0">
            <a:spAutoFit/>
          </a:bodyPr>
          <a:lstStyle/>
          <a:p>
            <a:pPr algn="l">
              <a:lnSpc>
                <a:spcPts val="1820"/>
              </a:lnSpc>
            </a:pPr>
            <a:r>
              <a:rPr lang="en-US" sz="1300">
                <a:solidFill>
                  <a:srgbClr val="000000">
                    <a:alpha val="60000"/>
                  </a:srgbClr>
                </a:solidFill>
                <a:latin typeface="Open Sauce"/>
                <a:ea typeface="Open Sauce"/>
                <a:cs typeface="Open Sauce"/>
                <a:sym typeface="Open Sauce"/>
              </a:rPr>
              <a:t>Sur de nombreux problèmes où les données sont limitées, le transfert learning donne de meilleurs résultats que l'entraînement d'un modèle à partir de zéro.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6054570" y="8563108"/>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2"/>
            <a:stretch>
              <a:fillRect l="0" t="0" r="0" b="-76306"/>
            </a:stretch>
          </a:blipFill>
        </p:spPr>
      </p:sp>
      <p:sp>
        <p:nvSpPr>
          <p:cNvPr name="Freeform 3" id="3"/>
          <p:cNvSpPr/>
          <p:nvPr/>
        </p:nvSpPr>
        <p:spPr>
          <a:xfrm flipH="false" flipV="false" rot="9533180">
            <a:off x="-3161344" y="-1900532"/>
            <a:ext cx="9108307" cy="7633373"/>
          </a:xfrm>
          <a:custGeom>
            <a:avLst/>
            <a:gdLst/>
            <a:ahLst/>
            <a:cxnLst/>
            <a:rect r="r" b="b" t="t" l="l"/>
            <a:pathLst>
              <a:path h="7633373" w="9108307">
                <a:moveTo>
                  <a:pt x="0" y="0"/>
                </a:moveTo>
                <a:lnTo>
                  <a:pt x="9108307" y="0"/>
                </a:lnTo>
                <a:lnTo>
                  <a:pt x="9108307" y="7633373"/>
                </a:lnTo>
                <a:lnTo>
                  <a:pt x="0" y="7633373"/>
                </a:lnTo>
                <a:lnTo>
                  <a:pt x="0" y="0"/>
                </a:lnTo>
                <a:close/>
              </a:path>
            </a:pathLst>
          </a:custGeom>
          <a:blipFill>
            <a:blip r:embed="rId3"/>
            <a:stretch>
              <a:fillRect l="0" t="0" r="-125760" b="-99006"/>
            </a:stretch>
          </a:blipFill>
        </p:spPr>
      </p:sp>
      <p:sp>
        <p:nvSpPr>
          <p:cNvPr name="Freeform 4" id="4"/>
          <p:cNvSpPr/>
          <p:nvPr/>
        </p:nvSpPr>
        <p:spPr>
          <a:xfrm flipH="false" flipV="false" rot="0">
            <a:off x="13376142" y="-1947767"/>
            <a:ext cx="8408276" cy="4318332"/>
          </a:xfrm>
          <a:custGeom>
            <a:avLst/>
            <a:gdLst/>
            <a:ahLst/>
            <a:cxnLst/>
            <a:rect r="r" b="b" t="t" l="l"/>
            <a:pathLst>
              <a:path h="4318332" w="8408276">
                <a:moveTo>
                  <a:pt x="0" y="0"/>
                </a:moveTo>
                <a:lnTo>
                  <a:pt x="8408276" y="0"/>
                </a:lnTo>
                <a:lnTo>
                  <a:pt x="8408276" y="4318331"/>
                </a:lnTo>
                <a:lnTo>
                  <a:pt x="0" y="4318331"/>
                </a:lnTo>
                <a:lnTo>
                  <a:pt x="0" y="0"/>
                </a:lnTo>
                <a:close/>
              </a:path>
            </a:pathLst>
          </a:custGeom>
          <a:blipFill>
            <a:blip r:embed="rId4">
              <a:alphaModFix amt="90000"/>
            </a:blip>
            <a:stretch>
              <a:fillRect l="0" t="-90573" r="0" b="0"/>
            </a:stretch>
          </a:blipFill>
        </p:spPr>
      </p:sp>
      <p:sp>
        <p:nvSpPr>
          <p:cNvPr name="AutoShape 5" id="5"/>
          <p:cNvSpPr/>
          <p:nvPr/>
        </p:nvSpPr>
        <p:spPr>
          <a:xfrm>
            <a:off x="1104900" y="1619250"/>
            <a:ext cx="951963" cy="0"/>
          </a:xfrm>
          <a:prstGeom prst="line">
            <a:avLst/>
          </a:prstGeom>
          <a:ln cap="rnd" w="19050">
            <a:solidFill>
              <a:srgbClr val="000000"/>
            </a:solidFill>
            <a:prstDash val="solid"/>
            <a:headEnd type="none" len="sm" w="sm"/>
            <a:tailEnd type="none" len="sm" w="sm"/>
          </a:ln>
        </p:spPr>
      </p:sp>
      <p:sp>
        <p:nvSpPr>
          <p:cNvPr name="TextBox 6" id="6"/>
          <p:cNvSpPr txBox="true"/>
          <p:nvPr/>
        </p:nvSpPr>
        <p:spPr>
          <a:xfrm rot="0">
            <a:off x="1092890" y="933450"/>
            <a:ext cx="8809376" cy="361950"/>
          </a:xfrm>
          <a:prstGeom prst="rect">
            <a:avLst/>
          </a:prstGeom>
        </p:spPr>
        <p:txBody>
          <a:bodyPr anchor="t" rtlCol="false" tIns="0" lIns="0" bIns="0" rIns="0">
            <a:spAutoFit/>
          </a:bodyPr>
          <a:lstStyle/>
          <a:p>
            <a:pPr algn="l">
              <a:lnSpc>
                <a:spcPts val="2879"/>
              </a:lnSpc>
            </a:pPr>
            <a:r>
              <a:rPr lang="en-US" sz="2400" spc="240">
                <a:solidFill>
                  <a:srgbClr val="000000"/>
                </a:solidFill>
                <a:latin typeface="Open Sauce"/>
                <a:ea typeface="Open Sauce"/>
                <a:cs typeface="Open Sauce"/>
                <a:sym typeface="Open Sauce"/>
              </a:rPr>
              <a:t>APPLICATIONS DU TRANSFERT LEARNING</a:t>
            </a:r>
          </a:p>
        </p:txBody>
      </p:sp>
      <p:sp>
        <p:nvSpPr>
          <p:cNvPr name="TextBox 7" id="7"/>
          <p:cNvSpPr txBox="true"/>
          <p:nvPr/>
        </p:nvSpPr>
        <p:spPr>
          <a:xfrm rot="0">
            <a:off x="16055825" y="9267825"/>
            <a:ext cx="1203475" cy="361950"/>
          </a:xfrm>
          <a:prstGeom prst="rect">
            <a:avLst/>
          </a:prstGeom>
        </p:spPr>
        <p:txBody>
          <a:bodyPr anchor="t" rtlCol="false" tIns="0" lIns="0" bIns="0" rIns="0">
            <a:spAutoFit/>
          </a:bodyPr>
          <a:lstStyle/>
          <a:p>
            <a:pPr algn="r">
              <a:lnSpc>
                <a:spcPts val="2879"/>
              </a:lnSpc>
            </a:pPr>
            <a:r>
              <a:rPr lang="en-US" sz="2400" spc="240">
                <a:solidFill>
                  <a:srgbClr val="000000"/>
                </a:solidFill>
                <a:latin typeface="Open Sauce"/>
                <a:ea typeface="Open Sauce"/>
                <a:cs typeface="Open Sauce"/>
                <a:sym typeface="Open Sauce"/>
              </a:rPr>
              <a:t>8</a:t>
            </a:r>
          </a:p>
        </p:txBody>
      </p:sp>
      <p:sp>
        <p:nvSpPr>
          <p:cNvPr name="TextBox 8" id="8"/>
          <p:cNvSpPr txBox="true"/>
          <p:nvPr/>
        </p:nvSpPr>
        <p:spPr>
          <a:xfrm rot="0">
            <a:off x="1092890" y="2420773"/>
            <a:ext cx="4480902" cy="1251585"/>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000000"/>
                </a:solidFill>
                <a:latin typeface="Open Sauce Bold"/>
                <a:ea typeface="Open Sauce Bold"/>
                <a:cs typeface="Open Sauce Bold"/>
                <a:sym typeface="Open Sauce Bold"/>
              </a:rPr>
              <a:t>Vision par ordinateur</a:t>
            </a:r>
          </a:p>
        </p:txBody>
      </p:sp>
      <p:sp>
        <p:nvSpPr>
          <p:cNvPr name="TextBox 9" id="9"/>
          <p:cNvSpPr txBox="true"/>
          <p:nvPr/>
        </p:nvSpPr>
        <p:spPr>
          <a:xfrm rot="0">
            <a:off x="1104900" y="3920008"/>
            <a:ext cx="4404688" cy="5443855"/>
          </a:xfrm>
          <a:prstGeom prst="rect">
            <a:avLst/>
          </a:prstGeom>
        </p:spPr>
        <p:txBody>
          <a:bodyPr anchor="t" rtlCol="false" tIns="0" lIns="0" bIns="0" rIns="0">
            <a:spAutoFit/>
          </a:bodyPr>
          <a:lstStyle/>
          <a:p>
            <a:pPr algn="l">
              <a:lnSpc>
                <a:spcPts val="3919"/>
              </a:lnSpc>
            </a:pPr>
            <a:r>
              <a:rPr lang="en-US" sz="2799" u="sng" b="true">
                <a:solidFill>
                  <a:srgbClr val="000000"/>
                </a:solidFill>
                <a:latin typeface="Open Sauce Bold"/>
                <a:ea typeface="Open Sauce Bold"/>
                <a:cs typeface="Open Sauce Bold"/>
                <a:sym typeface="Open Sauce Bold"/>
              </a:rPr>
              <a:t>Exemple</a:t>
            </a:r>
            <a:r>
              <a:rPr lang="en-US" sz="2799">
                <a:solidFill>
                  <a:srgbClr val="000000"/>
                </a:solidFill>
                <a:latin typeface="Open Sauce"/>
                <a:ea typeface="Open Sauce"/>
                <a:cs typeface="Open Sauce"/>
                <a:sym typeface="Open Sauce"/>
              </a:rPr>
              <a:t> </a:t>
            </a:r>
            <a:r>
              <a:rPr lang="en-US" sz="2799" b="true">
                <a:solidFill>
                  <a:srgbClr val="000000"/>
                </a:solidFill>
                <a:latin typeface="Open Sauce Bold"/>
                <a:ea typeface="Open Sauce Bold"/>
                <a:cs typeface="Open Sauce Bold"/>
                <a:sym typeface="Open Sauce Bold"/>
              </a:rPr>
              <a:t>:</a:t>
            </a:r>
            <a:r>
              <a:rPr lang="en-US" sz="2799">
                <a:solidFill>
                  <a:srgbClr val="000000"/>
                </a:solidFill>
                <a:latin typeface="Open Sauce"/>
                <a:ea typeface="Open Sauce"/>
                <a:cs typeface="Open Sauce"/>
                <a:sym typeface="Open Sauce"/>
              </a:rPr>
              <a:t> </a:t>
            </a:r>
          </a:p>
          <a:p>
            <a:pPr algn="l">
              <a:lnSpc>
                <a:spcPts val="3919"/>
              </a:lnSpc>
            </a:pPr>
            <a:r>
              <a:rPr lang="en-US" sz="2799">
                <a:solidFill>
                  <a:srgbClr val="000000"/>
                </a:solidFill>
                <a:latin typeface="Open Sauce"/>
                <a:ea typeface="Open Sauce"/>
                <a:cs typeface="Open Sauce"/>
                <a:sym typeface="Open Sauce"/>
              </a:rPr>
              <a:t>Vous pouvez utiliser un modèle pré-entraîné sur ImageNet (une base de données massive d'images) pour classer un ensemble de données d'images médicales, d'objets spécifiques ou même de visages.</a:t>
            </a:r>
          </a:p>
          <a:p>
            <a:pPr algn="l">
              <a:lnSpc>
                <a:spcPts val="3919"/>
              </a:lnSpc>
            </a:pPr>
          </a:p>
        </p:txBody>
      </p:sp>
      <p:sp>
        <p:nvSpPr>
          <p:cNvPr name="TextBox 10" id="10"/>
          <p:cNvSpPr txBox="true"/>
          <p:nvPr/>
        </p:nvSpPr>
        <p:spPr>
          <a:xfrm rot="0">
            <a:off x="6903549" y="2420773"/>
            <a:ext cx="5041326" cy="1251585"/>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000000"/>
                </a:solidFill>
                <a:latin typeface="Open Sauce Bold"/>
                <a:ea typeface="Open Sauce Bold"/>
                <a:cs typeface="Open Sauce Bold"/>
                <a:sym typeface="Open Sauce Bold"/>
              </a:rPr>
              <a:t>Traitement du langage naturel (NLP)</a:t>
            </a:r>
          </a:p>
        </p:txBody>
      </p:sp>
      <p:sp>
        <p:nvSpPr>
          <p:cNvPr name="TextBox 11" id="11"/>
          <p:cNvSpPr txBox="true"/>
          <p:nvPr/>
        </p:nvSpPr>
        <p:spPr>
          <a:xfrm rot="0">
            <a:off x="6903549" y="3902057"/>
            <a:ext cx="4404688" cy="5939155"/>
          </a:xfrm>
          <a:prstGeom prst="rect">
            <a:avLst/>
          </a:prstGeom>
        </p:spPr>
        <p:txBody>
          <a:bodyPr anchor="t" rtlCol="false" tIns="0" lIns="0" bIns="0" rIns="0">
            <a:spAutoFit/>
          </a:bodyPr>
          <a:lstStyle/>
          <a:p>
            <a:pPr algn="l">
              <a:lnSpc>
                <a:spcPts val="3919"/>
              </a:lnSpc>
            </a:pPr>
            <a:r>
              <a:rPr lang="en-US" sz="2799" u="sng" b="true">
                <a:solidFill>
                  <a:srgbClr val="000000"/>
                </a:solidFill>
                <a:latin typeface="Open Sauce Bold"/>
                <a:ea typeface="Open Sauce Bold"/>
                <a:cs typeface="Open Sauce Bold"/>
                <a:sym typeface="Open Sauce Bold"/>
              </a:rPr>
              <a:t>Exemple</a:t>
            </a:r>
            <a:r>
              <a:rPr lang="en-US" sz="2799">
                <a:solidFill>
                  <a:srgbClr val="000000"/>
                </a:solidFill>
                <a:latin typeface="Open Sauce"/>
                <a:ea typeface="Open Sauce"/>
                <a:cs typeface="Open Sauce"/>
                <a:sym typeface="Open Sauce"/>
              </a:rPr>
              <a:t> </a:t>
            </a:r>
            <a:r>
              <a:rPr lang="en-US" sz="2799" b="true">
                <a:solidFill>
                  <a:srgbClr val="000000"/>
                </a:solidFill>
                <a:latin typeface="Open Sauce Bold"/>
                <a:ea typeface="Open Sauce Bold"/>
                <a:cs typeface="Open Sauce Bold"/>
                <a:sym typeface="Open Sauce Bold"/>
              </a:rPr>
              <a:t>:</a:t>
            </a:r>
            <a:r>
              <a:rPr lang="en-US" sz="2799">
                <a:solidFill>
                  <a:srgbClr val="000000"/>
                </a:solidFill>
                <a:latin typeface="Open Sauce"/>
                <a:ea typeface="Open Sauce"/>
                <a:cs typeface="Open Sauce"/>
                <a:sym typeface="Open Sauce"/>
              </a:rPr>
              <a:t> </a:t>
            </a:r>
          </a:p>
          <a:p>
            <a:pPr algn="l">
              <a:lnSpc>
                <a:spcPts val="3919"/>
              </a:lnSpc>
            </a:pPr>
            <a:r>
              <a:rPr lang="en-US" sz="2799">
                <a:solidFill>
                  <a:srgbClr val="000000"/>
                </a:solidFill>
                <a:latin typeface="Open Sauce"/>
                <a:ea typeface="Open Sauce"/>
                <a:cs typeface="Open Sauce"/>
                <a:sym typeface="Open Sauce"/>
              </a:rPr>
              <a:t>Un modèle pré-entraîné comme BERT ou GPT-3 peut être réutilisé pour des tâches spécifiques telles que la classification de sentiments, la détection d’émotions dans les textes, ou la traduction automatique.</a:t>
            </a:r>
          </a:p>
          <a:p>
            <a:pPr algn="l">
              <a:lnSpc>
                <a:spcPts val="3919"/>
              </a:lnSpc>
            </a:pPr>
          </a:p>
        </p:txBody>
      </p:sp>
      <p:sp>
        <p:nvSpPr>
          <p:cNvPr name="TextBox 12" id="12"/>
          <p:cNvSpPr txBox="true"/>
          <p:nvPr/>
        </p:nvSpPr>
        <p:spPr>
          <a:xfrm rot="0">
            <a:off x="12714208" y="2420773"/>
            <a:ext cx="4480902" cy="1251585"/>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000000"/>
                </a:solidFill>
                <a:latin typeface="Open Sauce Bold"/>
                <a:ea typeface="Open Sauce Bold"/>
                <a:cs typeface="Open Sauce Bold"/>
                <a:sym typeface="Open Sauce Bold"/>
              </a:rPr>
              <a:t>Reconnaissance vocale</a:t>
            </a:r>
          </a:p>
        </p:txBody>
      </p:sp>
      <p:sp>
        <p:nvSpPr>
          <p:cNvPr name="TextBox 13" id="13"/>
          <p:cNvSpPr txBox="true"/>
          <p:nvPr/>
        </p:nvSpPr>
        <p:spPr>
          <a:xfrm rot="0">
            <a:off x="12714208" y="3920008"/>
            <a:ext cx="4404688" cy="5443855"/>
          </a:xfrm>
          <a:prstGeom prst="rect">
            <a:avLst/>
          </a:prstGeom>
        </p:spPr>
        <p:txBody>
          <a:bodyPr anchor="t" rtlCol="false" tIns="0" lIns="0" bIns="0" rIns="0">
            <a:spAutoFit/>
          </a:bodyPr>
          <a:lstStyle/>
          <a:p>
            <a:pPr algn="l">
              <a:lnSpc>
                <a:spcPts val="3919"/>
              </a:lnSpc>
            </a:pPr>
            <a:r>
              <a:rPr lang="en-US" sz="2799" u="sng" b="true">
                <a:solidFill>
                  <a:srgbClr val="000000"/>
                </a:solidFill>
                <a:latin typeface="Open Sauce Bold"/>
                <a:ea typeface="Open Sauce Bold"/>
                <a:cs typeface="Open Sauce Bold"/>
                <a:sym typeface="Open Sauce Bold"/>
              </a:rPr>
              <a:t>Exemple</a:t>
            </a:r>
            <a:r>
              <a:rPr lang="en-US" sz="2799">
                <a:solidFill>
                  <a:srgbClr val="000000"/>
                </a:solidFill>
                <a:latin typeface="Open Sauce"/>
                <a:ea typeface="Open Sauce"/>
                <a:cs typeface="Open Sauce"/>
                <a:sym typeface="Open Sauce"/>
              </a:rPr>
              <a:t> </a:t>
            </a:r>
            <a:r>
              <a:rPr lang="en-US" sz="2799" b="true">
                <a:solidFill>
                  <a:srgbClr val="000000"/>
                </a:solidFill>
                <a:latin typeface="Open Sauce Bold"/>
                <a:ea typeface="Open Sauce Bold"/>
                <a:cs typeface="Open Sauce Bold"/>
                <a:sym typeface="Open Sauce Bold"/>
              </a:rPr>
              <a:t>:</a:t>
            </a:r>
            <a:r>
              <a:rPr lang="en-US" sz="2799">
                <a:solidFill>
                  <a:srgbClr val="000000"/>
                </a:solidFill>
                <a:latin typeface="Open Sauce"/>
                <a:ea typeface="Open Sauce"/>
                <a:cs typeface="Open Sauce"/>
                <a:sym typeface="Open Sauce"/>
              </a:rPr>
              <a:t> </a:t>
            </a:r>
          </a:p>
          <a:p>
            <a:pPr algn="l">
              <a:lnSpc>
                <a:spcPts val="3919"/>
              </a:lnSpc>
            </a:pPr>
            <a:r>
              <a:rPr lang="en-US" sz="2799">
                <a:solidFill>
                  <a:srgbClr val="000000"/>
                </a:solidFill>
                <a:latin typeface="Open Sauce"/>
                <a:ea typeface="Open Sauce"/>
                <a:cs typeface="Open Sauce"/>
                <a:sym typeface="Open Sauce"/>
              </a:rPr>
              <a:t>Des modèles pré-entraînés sur de grandes bases de données de voix peuvent être adaptés à des tâches spécifiques, comme la reconnaissance de dialectes ou la détection d'émotions dans la voix.</a:t>
            </a:r>
          </a:p>
          <a:p>
            <a:pPr algn="l">
              <a:lnSpc>
                <a:spcPts val="391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6626070" y="9134608"/>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2"/>
            <a:stretch>
              <a:fillRect l="0" t="0" r="0" b="-76306"/>
            </a:stretch>
          </a:blipFill>
        </p:spPr>
      </p:sp>
      <p:sp>
        <p:nvSpPr>
          <p:cNvPr name="Freeform 3" id="3"/>
          <p:cNvSpPr/>
          <p:nvPr/>
        </p:nvSpPr>
        <p:spPr>
          <a:xfrm flipH="false" flipV="false" rot="9533180">
            <a:off x="-3732844" y="-2757782"/>
            <a:ext cx="9108307" cy="7633373"/>
          </a:xfrm>
          <a:custGeom>
            <a:avLst/>
            <a:gdLst/>
            <a:ahLst/>
            <a:cxnLst/>
            <a:rect r="r" b="b" t="t" l="l"/>
            <a:pathLst>
              <a:path h="7633373" w="9108307">
                <a:moveTo>
                  <a:pt x="0" y="0"/>
                </a:moveTo>
                <a:lnTo>
                  <a:pt x="9108307" y="0"/>
                </a:lnTo>
                <a:lnTo>
                  <a:pt x="9108307" y="7633373"/>
                </a:lnTo>
                <a:lnTo>
                  <a:pt x="0" y="7633373"/>
                </a:lnTo>
                <a:lnTo>
                  <a:pt x="0" y="0"/>
                </a:lnTo>
                <a:close/>
              </a:path>
            </a:pathLst>
          </a:custGeom>
          <a:blipFill>
            <a:blip r:embed="rId3"/>
            <a:stretch>
              <a:fillRect l="0" t="0" r="-125760" b="-99006"/>
            </a:stretch>
          </a:blipFill>
        </p:spPr>
      </p:sp>
      <p:sp>
        <p:nvSpPr>
          <p:cNvPr name="Freeform 4" id="4"/>
          <p:cNvSpPr/>
          <p:nvPr/>
        </p:nvSpPr>
        <p:spPr>
          <a:xfrm flipH="false" flipV="false" rot="0">
            <a:off x="13947642" y="-2519267"/>
            <a:ext cx="8408276" cy="4318332"/>
          </a:xfrm>
          <a:custGeom>
            <a:avLst/>
            <a:gdLst/>
            <a:ahLst/>
            <a:cxnLst/>
            <a:rect r="r" b="b" t="t" l="l"/>
            <a:pathLst>
              <a:path h="4318332" w="8408276">
                <a:moveTo>
                  <a:pt x="0" y="0"/>
                </a:moveTo>
                <a:lnTo>
                  <a:pt x="8408276" y="0"/>
                </a:lnTo>
                <a:lnTo>
                  <a:pt x="8408276" y="4318331"/>
                </a:lnTo>
                <a:lnTo>
                  <a:pt x="0" y="4318331"/>
                </a:lnTo>
                <a:lnTo>
                  <a:pt x="0" y="0"/>
                </a:lnTo>
                <a:close/>
              </a:path>
            </a:pathLst>
          </a:custGeom>
          <a:blipFill>
            <a:blip r:embed="rId4">
              <a:alphaModFix amt="90000"/>
            </a:blip>
            <a:stretch>
              <a:fillRect l="0" t="-90573" r="0" b="0"/>
            </a:stretch>
          </a:blipFill>
        </p:spPr>
      </p:sp>
      <p:sp>
        <p:nvSpPr>
          <p:cNvPr name="AutoShape 5" id="5"/>
          <p:cNvSpPr/>
          <p:nvPr/>
        </p:nvSpPr>
        <p:spPr>
          <a:xfrm>
            <a:off x="1104900" y="1619250"/>
            <a:ext cx="951963" cy="0"/>
          </a:xfrm>
          <a:prstGeom prst="line">
            <a:avLst/>
          </a:prstGeom>
          <a:ln cap="rnd" w="19050">
            <a:solidFill>
              <a:srgbClr val="000000"/>
            </a:solidFill>
            <a:prstDash val="solid"/>
            <a:headEnd type="none" len="sm" w="sm"/>
            <a:tailEnd type="none" len="sm" w="sm"/>
          </a:ln>
        </p:spPr>
      </p:sp>
      <p:sp>
        <p:nvSpPr>
          <p:cNvPr name="Freeform 6" id="6"/>
          <p:cNvSpPr/>
          <p:nvPr/>
        </p:nvSpPr>
        <p:spPr>
          <a:xfrm flipH="false" flipV="false" rot="0">
            <a:off x="1028700" y="2829752"/>
            <a:ext cx="1411840" cy="1096177"/>
          </a:xfrm>
          <a:custGeom>
            <a:avLst/>
            <a:gdLst/>
            <a:ahLst/>
            <a:cxnLst/>
            <a:rect r="r" b="b" t="t" l="l"/>
            <a:pathLst>
              <a:path h="1096177" w="1411840">
                <a:moveTo>
                  <a:pt x="0" y="0"/>
                </a:moveTo>
                <a:lnTo>
                  <a:pt x="1411840" y="0"/>
                </a:lnTo>
                <a:lnTo>
                  <a:pt x="1411840" y="1096177"/>
                </a:lnTo>
                <a:lnTo>
                  <a:pt x="0" y="10961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028700" y="7034021"/>
            <a:ext cx="1411840" cy="1363709"/>
          </a:xfrm>
          <a:custGeom>
            <a:avLst/>
            <a:gdLst/>
            <a:ahLst/>
            <a:cxnLst/>
            <a:rect r="r" b="b" t="t" l="l"/>
            <a:pathLst>
              <a:path h="1363709" w="1411840">
                <a:moveTo>
                  <a:pt x="0" y="0"/>
                </a:moveTo>
                <a:lnTo>
                  <a:pt x="1411840" y="0"/>
                </a:lnTo>
                <a:lnTo>
                  <a:pt x="1411840" y="1363709"/>
                </a:lnTo>
                <a:lnTo>
                  <a:pt x="0" y="13637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9902266" y="7034021"/>
            <a:ext cx="1411840" cy="1427412"/>
          </a:xfrm>
          <a:custGeom>
            <a:avLst/>
            <a:gdLst/>
            <a:ahLst/>
            <a:cxnLst/>
            <a:rect r="r" b="b" t="t" l="l"/>
            <a:pathLst>
              <a:path h="1427412" w="1411840">
                <a:moveTo>
                  <a:pt x="0" y="0"/>
                </a:moveTo>
                <a:lnTo>
                  <a:pt x="1411840" y="0"/>
                </a:lnTo>
                <a:lnTo>
                  <a:pt x="1411840" y="1427412"/>
                </a:lnTo>
                <a:lnTo>
                  <a:pt x="0" y="142741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9686367" y="2754860"/>
            <a:ext cx="1627739" cy="1245960"/>
          </a:xfrm>
          <a:custGeom>
            <a:avLst/>
            <a:gdLst/>
            <a:ahLst/>
            <a:cxnLst/>
            <a:rect r="r" b="b" t="t" l="l"/>
            <a:pathLst>
              <a:path h="1245960" w="1627739">
                <a:moveTo>
                  <a:pt x="0" y="0"/>
                </a:moveTo>
                <a:lnTo>
                  <a:pt x="1627739" y="0"/>
                </a:lnTo>
                <a:lnTo>
                  <a:pt x="1627739" y="1245961"/>
                </a:lnTo>
                <a:lnTo>
                  <a:pt x="0" y="124596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16055825" y="9267825"/>
            <a:ext cx="1203475" cy="361950"/>
          </a:xfrm>
          <a:prstGeom prst="rect">
            <a:avLst/>
          </a:prstGeom>
        </p:spPr>
        <p:txBody>
          <a:bodyPr anchor="t" rtlCol="false" tIns="0" lIns="0" bIns="0" rIns="0">
            <a:spAutoFit/>
          </a:bodyPr>
          <a:lstStyle/>
          <a:p>
            <a:pPr algn="r">
              <a:lnSpc>
                <a:spcPts val="2879"/>
              </a:lnSpc>
            </a:pPr>
            <a:r>
              <a:rPr lang="en-US" sz="2400" spc="240">
                <a:solidFill>
                  <a:srgbClr val="000000"/>
                </a:solidFill>
                <a:latin typeface="Open Sauce"/>
                <a:ea typeface="Open Sauce"/>
                <a:cs typeface="Open Sauce"/>
                <a:sym typeface="Open Sauce"/>
              </a:rPr>
              <a:t>9</a:t>
            </a:r>
          </a:p>
        </p:txBody>
      </p:sp>
      <p:sp>
        <p:nvSpPr>
          <p:cNvPr name="TextBox 11" id="11"/>
          <p:cNvSpPr txBox="true"/>
          <p:nvPr/>
        </p:nvSpPr>
        <p:spPr>
          <a:xfrm rot="0">
            <a:off x="1092890" y="933450"/>
            <a:ext cx="8809376" cy="361950"/>
          </a:xfrm>
          <a:prstGeom prst="rect">
            <a:avLst/>
          </a:prstGeom>
        </p:spPr>
        <p:txBody>
          <a:bodyPr anchor="t" rtlCol="false" tIns="0" lIns="0" bIns="0" rIns="0">
            <a:spAutoFit/>
          </a:bodyPr>
          <a:lstStyle/>
          <a:p>
            <a:pPr algn="l">
              <a:lnSpc>
                <a:spcPts val="2879"/>
              </a:lnSpc>
            </a:pPr>
            <a:r>
              <a:rPr lang="en-US" sz="2400" spc="240">
                <a:solidFill>
                  <a:srgbClr val="000000"/>
                </a:solidFill>
                <a:latin typeface="Open Sauce"/>
                <a:ea typeface="Open Sauce"/>
                <a:cs typeface="Open Sauce"/>
                <a:sym typeface="Open Sauce"/>
              </a:rPr>
              <a:t>LES DIFFÉRENTES MODÈLES PRÉ-ENTRAÎNÉS</a:t>
            </a:r>
          </a:p>
        </p:txBody>
      </p:sp>
      <p:sp>
        <p:nvSpPr>
          <p:cNvPr name="TextBox 12" id="12"/>
          <p:cNvSpPr txBox="true"/>
          <p:nvPr/>
        </p:nvSpPr>
        <p:spPr>
          <a:xfrm rot="0">
            <a:off x="3208711" y="2688185"/>
            <a:ext cx="5547014" cy="3457575"/>
          </a:xfrm>
          <a:prstGeom prst="rect">
            <a:avLst/>
          </a:prstGeom>
        </p:spPr>
        <p:txBody>
          <a:bodyPr anchor="t" rtlCol="false" tIns="0" lIns="0" bIns="0" rIns="0">
            <a:spAutoFit/>
          </a:bodyPr>
          <a:lstStyle/>
          <a:p>
            <a:pPr algn="l">
              <a:lnSpc>
                <a:spcPts val="3919"/>
              </a:lnSpc>
            </a:pPr>
            <a:r>
              <a:rPr lang="en-US" sz="2799">
                <a:solidFill>
                  <a:srgbClr val="000000"/>
                </a:solidFill>
                <a:latin typeface="Open Sauce"/>
                <a:ea typeface="Open Sauce"/>
                <a:cs typeface="Open Sauce"/>
                <a:sym typeface="Open Sauce"/>
              </a:rPr>
              <a:t>Les Réseaux Convolutifs (CNN)</a:t>
            </a:r>
          </a:p>
          <a:p>
            <a:pPr algn="l">
              <a:lnSpc>
                <a:spcPts val="2380"/>
              </a:lnSpc>
            </a:pPr>
          </a:p>
          <a:p>
            <a:pPr algn="l" marL="367031" indent="-183515" lvl="1">
              <a:lnSpc>
                <a:spcPts val="2380"/>
              </a:lnSpc>
              <a:buFont typeface="Arial"/>
              <a:buChar char="•"/>
            </a:pPr>
            <a:r>
              <a:rPr lang="en-US" b="true" sz="1700">
                <a:solidFill>
                  <a:srgbClr val="000000"/>
                </a:solidFill>
                <a:latin typeface="Open Sauce Bold"/>
                <a:ea typeface="Open Sauce Bold"/>
                <a:cs typeface="Open Sauce Bold"/>
                <a:sym typeface="Open Sauce Bold"/>
              </a:rPr>
              <a:t>LeNet-5</a:t>
            </a:r>
            <a:r>
              <a:rPr lang="en-US" sz="1700">
                <a:solidFill>
                  <a:srgbClr val="000000"/>
                </a:solidFill>
                <a:latin typeface="Open Sauce"/>
                <a:ea typeface="Open Sauce"/>
                <a:cs typeface="Open Sauce"/>
                <a:sym typeface="Open Sauce"/>
              </a:rPr>
              <a:t> : L'un des premiers CNN, simple mais efficace pour la reconnaissance de chiffres manuscrits.</a:t>
            </a:r>
          </a:p>
          <a:p>
            <a:pPr algn="l" marL="367031" indent="-183515" lvl="1">
              <a:lnSpc>
                <a:spcPts val="2380"/>
              </a:lnSpc>
              <a:buFont typeface="Arial"/>
              <a:buChar char="•"/>
            </a:pPr>
            <a:r>
              <a:rPr lang="en-US" b="true" sz="1700">
                <a:solidFill>
                  <a:srgbClr val="000000"/>
                </a:solidFill>
                <a:latin typeface="Open Sauce Bold"/>
                <a:ea typeface="Open Sauce Bold"/>
                <a:cs typeface="Open Sauce Bold"/>
                <a:sym typeface="Open Sauce Bold"/>
              </a:rPr>
              <a:t>AlexNet</a:t>
            </a:r>
            <a:r>
              <a:rPr lang="en-US" sz="1700">
                <a:solidFill>
                  <a:srgbClr val="000000"/>
                </a:solidFill>
                <a:latin typeface="Open Sauce"/>
                <a:ea typeface="Open Sauce"/>
                <a:cs typeface="Open Sauce"/>
                <a:sym typeface="Open Sauce"/>
              </a:rPr>
              <a:t> : Un modèle plus profond qui a révolutionné la vision par ordinateur en remportant le concours ImageNet en 2012.</a:t>
            </a:r>
          </a:p>
          <a:p>
            <a:pPr algn="l" marL="367031" indent="-183515" lvl="1">
              <a:lnSpc>
                <a:spcPts val="2380"/>
              </a:lnSpc>
              <a:buFont typeface="Arial"/>
              <a:buChar char="•"/>
            </a:pPr>
            <a:r>
              <a:rPr lang="en-US" b="true" sz="1700">
                <a:solidFill>
                  <a:srgbClr val="000000"/>
                </a:solidFill>
                <a:latin typeface="Open Sauce Bold"/>
                <a:ea typeface="Open Sauce Bold"/>
                <a:cs typeface="Open Sauce Bold"/>
                <a:sym typeface="Open Sauce Bold"/>
              </a:rPr>
              <a:t>VGG </a:t>
            </a:r>
            <a:r>
              <a:rPr lang="en-US" sz="1700">
                <a:solidFill>
                  <a:srgbClr val="000000"/>
                </a:solidFill>
                <a:latin typeface="Open Sauce"/>
                <a:ea typeface="Open Sauce"/>
                <a:cs typeface="Open Sauce"/>
                <a:sym typeface="Open Sauce"/>
              </a:rPr>
              <a:t>: Une famille de modèles caractérisée par l'utilisation de blocs de convolution 3x3 empilés.</a:t>
            </a:r>
          </a:p>
          <a:p>
            <a:pPr algn="l" marL="0" indent="0" lvl="0">
              <a:lnSpc>
                <a:spcPts val="2380"/>
              </a:lnSpc>
              <a:spcBef>
                <a:spcPct val="0"/>
              </a:spcBef>
            </a:pPr>
          </a:p>
        </p:txBody>
      </p:sp>
      <p:sp>
        <p:nvSpPr>
          <p:cNvPr name="TextBox 13" id="13"/>
          <p:cNvSpPr txBox="true"/>
          <p:nvPr/>
        </p:nvSpPr>
        <p:spPr>
          <a:xfrm rot="0">
            <a:off x="3208711" y="6967346"/>
            <a:ext cx="5460795" cy="2276475"/>
          </a:xfrm>
          <a:prstGeom prst="rect">
            <a:avLst/>
          </a:prstGeom>
        </p:spPr>
        <p:txBody>
          <a:bodyPr anchor="t" rtlCol="false" tIns="0" lIns="0" bIns="0" rIns="0">
            <a:spAutoFit/>
          </a:bodyPr>
          <a:lstStyle/>
          <a:p>
            <a:pPr algn="l">
              <a:lnSpc>
                <a:spcPts val="3919"/>
              </a:lnSpc>
            </a:pPr>
            <a:r>
              <a:rPr lang="en-US" sz="2799">
                <a:solidFill>
                  <a:srgbClr val="000000"/>
                </a:solidFill>
                <a:latin typeface="Open Sauce"/>
                <a:ea typeface="Open Sauce"/>
                <a:cs typeface="Open Sauce"/>
                <a:sym typeface="Open Sauce"/>
              </a:rPr>
              <a:t>Les Réseaux Récurrents (RNN):</a:t>
            </a:r>
          </a:p>
          <a:p>
            <a:pPr algn="l">
              <a:lnSpc>
                <a:spcPts val="2380"/>
              </a:lnSpc>
            </a:pPr>
          </a:p>
          <a:p>
            <a:pPr algn="l" marL="367031" indent="-183515" lvl="1">
              <a:lnSpc>
                <a:spcPts val="2380"/>
              </a:lnSpc>
              <a:buFont typeface="Arial"/>
              <a:buChar char="•"/>
            </a:pPr>
            <a:r>
              <a:rPr lang="en-US" b="true" sz="1700">
                <a:solidFill>
                  <a:srgbClr val="000000"/>
                </a:solidFill>
                <a:latin typeface="Open Sauce Bold"/>
                <a:ea typeface="Open Sauce Bold"/>
                <a:cs typeface="Open Sauce Bold"/>
                <a:sym typeface="Open Sauce Bold"/>
              </a:rPr>
              <a:t>ELMo : </a:t>
            </a:r>
            <a:r>
              <a:rPr lang="en-US" sz="1700">
                <a:solidFill>
                  <a:srgbClr val="000000"/>
                </a:solidFill>
                <a:latin typeface="Open Sauce"/>
                <a:ea typeface="Open Sauce"/>
                <a:cs typeface="Open Sauce"/>
                <a:sym typeface="Open Sauce"/>
              </a:rPr>
              <a:t>Modèle NLP capturant des représentations contextuelles avec des couches récurrentes bidirectionnelles.</a:t>
            </a:r>
          </a:p>
          <a:p>
            <a:pPr algn="l" marL="367031" indent="-183515" lvl="1">
              <a:lnSpc>
                <a:spcPts val="2380"/>
              </a:lnSpc>
              <a:spcBef>
                <a:spcPct val="0"/>
              </a:spcBef>
              <a:buFont typeface="Arial"/>
              <a:buChar char="•"/>
            </a:pPr>
            <a:r>
              <a:rPr lang="en-US" b="true" sz="1700">
                <a:solidFill>
                  <a:srgbClr val="000000"/>
                </a:solidFill>
                <a:latin typeface="Open Sauce Bold"/>
                <a:ea typeface="Open Sauce Bold"/>
                <a:cs typeface="Open Sauce Bold"/>
                <a:sym typeface="Open Sauce Bold"/>
              </a:rPr>
              <a:t>ULMFit :</a:t>
            </a:r>
            <a:r>
              <a:rPr lang="en-US" sz="1700">
                <a:solidFill>
                  <a:srgbClr val="000000"/>
                </a:solidFill>
                <a:latin typeface="Open Sauce"/>
                <a:ea typeface="Open Sauce"/>
                <a:cs typeface="Open Sauce"/>
                <a:sym typeface="Open Sauce"/>
              </a:rPr>
              <a:t> Modèle pré-entraîné basé sur des LSTM, ajusté pour des tâches spécifiques.</a:t>
            </a:r>
          </a:p>
        </p:txBody>
      </p:sp>
      <p:sp>
        <p:nvSpPr>
          <p:cNvPr name="TextBox 14" id="14"/>
          <p:cNvSpPr txBox="true"/>
          <p:nvPr/>
        </p:nvSpPr>
        <p:spPr>
          <a:xfrm rot="0">
            <a:off x="11605103" y="6877050"/>
            <a:ext cx="5230878" cy="2571750"/>
          </a:xfrm>
          <a:prstGeom prst="rect">
            <a:avLst/>
          </a:prstGeom>
        </p:spPr>
        <p:txBody>
          <a:bodyPr anchor="t" rtlCol="false" tIns="0" lIns="0" bIns="0" rIns="0">
            <a:spAutoFit/>
          </a:bodyPr>
          <a:lstStyle/>
          <a:p>
            <a:pPr algn="l">
              <a:lnSpc>
                <a:spcPts val="3919"/>
              </a:lnSpc>
            </a:pPr>
            <a:r>
              <a:rPr lang="en-US" sz="2799">
                <a:solidFill>
                  <a:srgbClr val="000000"/>
                </a:solidFill>
                <a:latin typeface="Open Sauce"/>
                <a:ea typeface="Open Sauce"/>
                <a:cs typeface="Open Sauce"/>
                <a:sym typeface="Open Sauce"/>
              </a:rPr>
              <a:t>Les Transformers:</a:t>
            </a:r>
          </a:p>
          <a:p>
            <a:pPr algn="l">
              <a:lnSpc>
                <a:spcPts val="2380"/>
              </a:lnSpc>
            </a:pPr>
          </a:p>
          <a:p>
            <a:pPr algn="l" marL="367031" indent="-183515" lvl="1">
              <a:lnSpc>
                <a:spcPts val="2380"/>
              </a:lnSpc>
              <a:buFont typeface="Arial"/>
              <a:buChar char="•"/>
            </a:pPr>
            <a:r>
              <a:rPr lang="en-US" b="true" sz="1700">
                <a:solidFill>
                  <a:srgbClr val="000000"/>
                </a:solidFill>
                <a:latin typeface="Open Sauce Bold"/>
                <a:ea typeface="Open Sauce Bold"/>
                <a:cs typeface="Open Sauce Bold"/>
                <a:sym typeface="Open Sauce Bold"/>
              </a:rPr>
              <a:t>BERT</a:t>
            </a:r>
            <a:r>
              <a:rPr lang="en-US" sz="1700">
                <a:solidFill>
                  <a:srgbClr val="000000"/>
                </a:solidFill>
                <a:latin typeface="Open Sauce"/>
                <a:ea typeface="Open Sauce"/>
                <a:cs typeface="Open Sauce"/>
                <a:sym typeface="Open Sauce"/>
              </a:rPr>
              <a:t> : </a:t>
            </a:r>
            <a:r>
              <a:rPr lang="en-US" b="true" sz="1700">
                <a:solidFill>
                  <a:srgbClr val="000000"/>
                </a:solidFill>
                <a:latin typeface="Open Sauce Bold"/>
                <a:ea typeface="Open Sauce Bold"/>
                <a:cs typeface="Open Sauce Bold"/>
                <a:sym typeface="Open Sauce Bold"/>
              </a:rPr>
              <a:t>B</a:t>
            </a:r>
            <a:r>
              <a:rPr lang="en-US" sz="1700">
                <a:solidFill>
                  <a:srgbClr val="000000"/>
                </a:solidFill>
                <a:latin typeface="Open Sauce"/>
                <a:ea typeface="Open Sauce"/>
                <a:cs typeface="Open Sauce"/>
                <a:sym typeface="Open Sauce"/>
              </a:rPr>
              <a:t>idirectional </a:t>
            </a:r>
            <a:r>
              <a:rPr lang="en-US" b="true" sz="1700">
                <a:solidFill>
                  <a:srgbClr val="000000"/>
                </a:solidFill>
                <a:latin typeface="Open Sauce Bold"/>
                <a:ea typeface="Open Sauce Bold"/>
                <a:cs typeface="Open Sauce Bold"/>
                <a:sym typeface="Open Sauce Bold"/>
              </a:rPr>
              <a:t>E</a:t>
            </a:r>
            <a:r>
              <a:rPr lang="en-US" sz="1700">
                <a:solidFill>
                  <a:srgbClr val="000000"/>
                </a:solidFill>
                <a:latin typeface="Open Sauce"/>
                <a:ea typeface="Open Sauce"/>
                <a:cs typeface="Open Sauce"/>
                <a:sym typeface="Open Sauce"/>
              </a:rPr>
              <a:t>ncoder </a:t>
            </a:r>
            <a:r>
              <a:rPr lang="en-US" b="true" sz="1700">
                <a:solidFill>
                  <a:srgbClr val="000000"/>
                </a:solidFill>
                <a:latin typeface="Open Sauce Bold"/>
                <a:ea typeface="Open Sauce Bold"/>
                <a:cs typeface="Open Sauce Bold"/>
                <a:sym typeface="Open Sauce Bold"/>
              </a:rPr>
              <a:t>R</a:t>
            </a:r>
            <a:r>
              <a:rPr lang="en-US" sz="1700">
                <a:solidFill>
                  <a:srgbClr val="000000"/>
                </a:solidFill>
                <a:latin typeface="Open Sauce"/>
                <a:ea typeface="Open Sauce"/>
                <a:cs typeface="Open Sauce"/>
                <a:sym typeface="Open Sauce"/>
              </a:rPr>
              <a:t>epresentations from </a:t>
            </a:r>
            <a:r>
              <a:rPr lang="en-US" b="true" sz="1700">
                <a:solidFill>
                  <a:srgbClr val="000000"/>
                </a:solidFill>
                <a:latin typeface="Open Sauce Bold"/>
                <a:ea typeface="Open Sauce Bold"/>
                <a:cs typeface="Open Sauce Bold"/>
                <a:sym typeface="Open Sauce Bold"/>
              </a:rPr>
              <a:t>T</a:t>
            </a:r>
            <a:r>
              <a:rPr lang="en-US" sz="1700">
                <a:solidFill>
                  <a:srgbClr val="000000"/>
                </a:solidFill>
                <a:latin typeface="Open Sauce"/>
                <a:ea typeface="Open Sauce"/>
                <a:cs typeface="Open Sauce"/>
                <a:sym typeface="Open Sauce"/>
              </a:rPr>
              <a:t>ransformers, excelle dans de nombreuses tâches de NLP</a:t>
            </a:r>
          </a:p>
          <a:p>
            <a:pPr algn="l" marL="367031" indent="-183515" lvl="1">
              <a:lnSpc>
                <a:spcPts val="2380"/>
              </a:lnSpc>
              <a:buFont typeface="Arial"/>
              <a:buChar char="•"/>
            </a:pPr>
            <a:r>
              <a:rPr lang="en-US" b="true" sz="1700">
                <a:solidFill>
                  <a:srgbClr val="000000"/>
                </a:solidFill>
                <a:latin typeface="Open Sauce Bold"/>
                <a:ea typeface="Open Sauce Bold"/>
                <a:cs typeface="Open Sauce Bold"/>
                <a:sym typeface="Open Sauce Bold"/>
              </a:rPr>
              <a:t>GPT</a:t>
            </a:r>
            <a:r>
              <a:rPr lang="en-US" sz="1700">
                <a:solidFill>
                  <a:srgbClr val="000000"/>
                </a:solidFill>
                <a:latin typeface="Open Sauce"/>
                <a:ea typeface="Open Sauce"/>
                <a:cs typeface="Open Sauce"/>
                <a:sym typeface="Open Sauce"/>
              </a:rPr>
              <a:t> : </a:t>
            </a:r>
            <a:r>
              <a:rPr lang="en-US" b="true" sz="1700">
                <a:solidFill>
                  <a:srgbClr val="000000"/>
                </a:solidFill>
                <a:latin typeface="Open Sauce Bold"/>
                <a:ea typeface="Open Sauce Bold"/>
                <a:cs typeface="Open Sauce Bold"/>
                <a:sym typeface="Open Sauce Bold"/>
              </a:rPr>
              <a:t>G</a:t>
            </a:r>
            <a:r>
              <a:rPr lang="en-US" sz="1700">
                <a:solidFill>
                  <a:srgbClr val="000000"/>
                </a:solidFill>
                <a:latin typeface="Open Sauce"/>
                <a:ea typeface="Open Sauce"/>
                <a:cs typeface="Open Sauce"/>
                <a:sym typeface="Open Sauce"/>
              </a:rPr>
              <a:t>enerative </a:t>
            </a:r>
            <a:r>
              <a:rPr lang="en-US" b="true" sz="1700">
                <a:solidFill>
                  <a:srgbClr val="000000"/>
                </a:solidFill>
                <a:latin typeface="Open Sauce Bold"/>
                <a:ea typeface="Open Sauce Bold"/>
                <a:cs typeface="Open Sauce Bold"/>
                <a:sym typeface="Open Sauce Bold"/>
              </a:rPr>
              <a:t>P</a:t>
            </a:r>
            <a:r>
              <a:rPr lang="en-US" sz="1700">
                <a:solidFill>
                  <a:srgbClr val="000000"/>
                </a:solidFill>
                <a:latin typeface="Open Sauce"/>
                <a:ea typeface="Open Sauce"/>
                <a:cs typeface="Open Sauce"/>
                <a:sym typeface="Open Sauce"/>
              </a:rPr>
              <a:t>re-trained </a:t>
            </a:r>
            <a:r>
              <a:rPr lang="en-US" b="true" sz="1700">
                <a:solidFill>
                  <a:srgbClr val="000000"/>
                </a:solidFill>
                <a:latin typeface="Open Sauce Bold"/>
                <a:ea typeface="Open Sauce Bold"/>
                <a:cs typeface="Open Sauce Bold"/>
                <a:sym typeface="Open Sauce Bold"/>
              </a:rPr>
              <a:t>T</a:t>
            </a:r>
            <a:r>
              <a:rPr lang="en-US" sz="1700">
                <a:solidFill>
                  <a:srgbClr val="000000"/>
                </a:solidFill>
                <a:latin typeface="Open Sauce"/>
                <a:ea typeface="Open Sauce"/>
                <a:cs typeface="Open Sauce"/>
                <a:sym typeface="Open Sauce"/>
              </a:rPr>
              <a:t>ransformer, utilisé pour la génération de texte</a:t>
            </a:r>
          </a:p>
          <a:p>
            <a:pPr algn="l" marL="0" indent="0" lvl="0">
              <a:lnSpc>
                <a:spcPts val="2380"/>
              </a:lnSpc>
              <a:spcBef>
                <a:spcPct val="0"/>
              </a:spcBef>
            </a:pPr>
          </a:p>
        </p:txBody>
      </p:sp>
      <p:sp>
        <p:nvSpPr>
          <p:cNvPr name="TextBox 15" id="15"/>
          <p:cNvSpPr txBox="true"/>
          <p:nvPr/>
        </p:nvSpPr>
        <p:spPr>
          <a:xfrm rot="0">
            <a:off x="11552731" y="2688185"/>
            <a:ext cx="5857606" cy="2771775"/>
          </a:xfrm>
          <a:prstGeom prst="rect">
            <a:avLst/>
          </a:prstGeom>
        </p:spPr>
        <p:txBody>
          <a:bodyPr anchor="t" rtlCol="false" tIns="0" lIns="0" bIns="0" rIns="0">
            <a:spAutoFit/>
          </a:bodyPr>
          <a:lstStyle/>
          <a:p>
            <a:pPr algn="l">
              <a:lnSpc>
                <a:spcPts val="3919"/>
              </a:lnSpc>
            </a:pPr>
            <a:r>
              <a:rPr lang="en-US" sz="2799">
                <a:solidFill>
                  <a:srgbClr val="000000"/>
                </a:solidFill>
                <a:latin typeface="Open Sauce"/>
                <a:ea typeface="Open Sauce"/>
                <a:cs typeface="Open Sauce"/>
                <a:sym typeface="Open Sauce"/>
              </a:rPr>
              <a:t>Les Modèles Génératifs Adversariaux (GANs)</a:t>
            </a:r>
          </a:p>
          <a:p>
            <a:pPr algn="l">
              <a:lnSpc>
                <a:spcPts val="2380"/>
              </a:lnSpc>
            </a:pPr>
          </a:p>
          <a:p>
            <a:pPr algn="l" marL="367035" indent="-183518" lvl="1">
              <a:lnSpc>
                <a:spcPts val="2380"/>
              </a:lnSpc>
              <a:buFont typeface="Arial"/>
              <a:buChar char="•"/>
            </a:pPr>
            <a:r>
              <a:rPr lang="en-US" b="true" sz="1700">
                <a:solidFill>
                  <a:srgbClr val="000000"/>
                </a:solidFill>
                <a:latin typeface="Open Sauce Bold"/>
                <a:ea typeface="Open Sauce Bold"/>
                <a:cs typeface="Open Sauce Bold"/>
                <a:sym typeface="Open Sauce Bold"/>
              </a:rPr>
              <a:t>DCGAN</a:t>
            </a:r>
            <a:r>
              <a:rPr lang="en-US" sz="1700">
                <a:solidFill>
                  <a:srgbClr val="000000"/>
                </a:solidFill>
                <a:latin typeface="Open Sauce"/>
                <a:ea typeface="Open Sauce"/>
                <a:cs typeface="Open Sauce"/>
                <a:sym typeface="Open Sauce"/>
              </a:rPr>
              <a:t> : Une architecture spécifique pour générer des images.</a:t>
            </a:r>
          </a:p>
          <a:p>
            <a:pPr algn="l" marL="367035" indent="-183518" lvl="1">
              <a:lnSpc>
                <a:spcPts val="2380"/>
              </a:lnSpc>
              <a:buFont typeface="Arial"/>
              <a:buChar char="•"/>
            </a:pPr>
            <a:r>
              <a:rPr lang="en-US" b="true" sz="1700">
                <a:solidFill>
                  <a:srgbClr val="000000"/>
                </a:solidFill>
                <a:latin typeface="Open Sauce Bold"/>
                <a:ea typeface="Open Sauce Bold"/>
                <a:cs typeface="Open Sauce Bold"/>
                <a:sym typeface="Open Sauce Bold"/>
              </a:rPr>
              <a:t>StyleGAN</a:t>
            </a:r>
            <a:r>
              <a:rPr lang="en-US" sz="1700">
                <a:solidFill>
                  <a:srgbClr val="000000"/>
                </a:solidFill>
                <a:latin typeface="Open Sauce"/>
                <a:ea typeface="Open Sauce"/>
                <a:cs typeface="Open Sauce"/>
                <a:sym typeface="Open Sauce"/>
              </a:rPr>
              <a:t> : Génère des images de haute qualité avec un contrôle précis sur différents attributs.</a:t>
            </a:r>
          </a:p>
          <a:p>
            <a:pPr algn="l" marL="0" indent="0" lvl="0">
              <a:lnSpc>
                <a:spcPts val="2380"/>
              </a:lnSpc>
              <a:spcBef>
                <a:spcPct val="0"/>
              </a:spcBef>
            </a:pPr>
          </a:p>
        </p:txBody>
      </p:sp>
      <p:sp>
        <p:nvSpPr>
          <p:cNvPr name="TextBox 16" id="16"/>
          <p:cNvSpPr txBox="true"/>
          <p:nvPr/>
        </p:nvSpPr>
        <p:spPr>
          <a:xfrm rot="0">
            <a:off x="5511756" y="6193187"/>
            <a:ext cx="7264488" cy="613410"/>
          </a:xfrm>
          <a:prstGeom prst="rect">
            <a:avLst/>
          </a:prstGeom>
        </p:spPr>
        <p:txBody>
          <a:bodyPr anchor="t" rtlCol="false" tIns="0" lIns="0" bIns="0" rIns="0">
            <a:spAutoFit/>
          </a:bodyPr>
          <a:lstStyle/>
          <a:p>
            <a:pPr algn="l">
              <a:lnSpc>
                <a:spcPts val="5040"/>
              </a:lnSpc>
            </a:pPr>
            <a:r>
              <a:rPr lang="en-US" sz="3600" b="true">
                <a:solidFill>
                  <a:srgbClr val="000000"/>
                </a:solidFill>
                <a:latin typeface="Open Sauce Bold"/>
                <a:ea typeface="Open Sauce Bold"/>
                <a:cs typeface="Open Sauce Bold"/>
                <a:sym typeface="Open Sauce Bold"/>
              </a:rPr>
              <a:t>Traitement du Langage Naturel</a:t>
            </a:r>
          </a:p>
        </p:txBody>
      </p:sp>
      <p:sp>
        <p:nvSpPr>
          <p:cNvPr name="TextBox 17" id="17"/>
          <p:cNvSpPr txBox="true"/>
          <p:nvPr/>
        </p:nvSpPr>
        <p:spPr>
          <a:xfrm rot="0">
            <a:off x="6682897" y="1732389"/>
            <a:ext cx="4922207" cy="613410"/>
          </a:xfrm>
          <a:prstGeom prst="rect">
            <a:avLst/>
          </a:prstGeom>
        </p:spPr>
        <p:txBody>
          <a:bodyPr anchor="t" rtlCol="false" tIns="0" lIns="0" bIns="0" rIns="0">
            <a:spAutoFit/>
          </a:bodyPr>
          <a:lstStyle/>
          <a:p>
            <a:pPr algn="l">
              <a:lnSpc>
                <a:spcPts val="5040"/>
              </a:lnSpc>
            </a:pPr>
            <a:r>
              <a:rPr lang="en-US" sz="3600" b="true">
                <a:solidFill>
                  <a:srgbClr val="000000"/>
                </a:solidFill>
                <a:latin typeface="Open Sauce Bold"/>
                <a:ea typeface="Open Sauce Bold"/>
                <a:cs typeface="Open Sauce Bold"/>
                <a:sym typeface="Open Sauce Bold"/>
              </a:rPr>
              <a:t>Vision Par Ordinateur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5768820" y="8277358"/>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2"/>
            <a:stretch>
              <a:fillRect l="0" t="0" r="0" b="-76306"/>
            </a:stretch>
          </a:blipFill>
        </p:spPr>
      </p:sp>
      <p:sp>
        <p:nvSpPr>
          <p:cNvPr name="Freeform 3" id="3"/>
          <p:cNvSpPr/>
          <p:nvPr/>
        </p:nvSpPr>
        <p:spPr>
          <a:xfrm flipH="false" flipV="false" rot="9533180">
            <a:off x="-2875594" y="-1614782"/>
            <a:ext cx="9108307" cy="7633373"/>
          </a:xfrm>
          <a:custGeom>
            <a:avLst/>
            <a:gdLst/>
            <a:ahLst/>
            <a:cxnLst/>
            <a:rect r="r" b="b" t="t" l="l"/>
            <a:pathLst>
              <a:path h="7633373" w="9108307">
                <a:moveTo>
                  <a:pt x="0" y="0"/>
                </a:moveTo>
                <a:lnTo>
                  <a:pt x="9108307" y="0"/>
                </a:lnTo>
                <a:lnTo>
                  <a:pt x="9108307" y="7633373"/>
                </a:lnTo>
                <a:lnTo>
                  <a:pt x="0" y="7633373"/>
                </a:lnTo>
                <a:lnTo>
                  <a:pt x="0" y="0"/>
                </a:lnTo>
                <a:close/>
              </a:path>
            </a:pathLst>
          </a:custGeom>
          <a:blipFill>
            <a:blip r:embed="rId3"/>
            <a:stretch>
              <a:fillRect l="0" t="0" r="-125760" b="-99006"/>
            </a:stretch>
          </a:blipFill>
        </p:spPr>
      </p:sp>
      <p:sp>
        <p:nvSpPr>
          <p:cNvPr name="Freeform 4" id="4"/>
          <p:cNvSpPr/>
          <p:nvPr/>
        </p:nvSpPr>
        <p:spPr>
          <a:xfrm flipH="false" flipV="false" rot="0">
            <a:off x="13090392" y="-1662017"/>
            <a:ext cx="8408276" cy="4318332"/>
          </a:xfrm>
          <a:custGeom>
            <a:avLst/>
            <a:gdLst/>
            <a:ahLst/>
            <a:cxnLst/>
            <a:rect r="r" b="b" t="t" l="l"/>
            <a:pathLst>
              <a:path h="4318332" w="8408276">
                <a:moveTo>
                  <a:pt x="0" y="0"/>
                </a:moveTo>
                <a:lnTo>
                  <a:pt x="8408276" y="0"/>
                </a:lnTo>
                <a:lnTo>
                  <a:pt x="8408276" y="4318331"/>
                </a:lnTo>
                <a:lnTo>
                  <a:pt x="0" y="4318331"/>
                </a:lnTo>
                <a:lnTo>
                  <a:pt x="0" y="0"/>
                </a:lnTo>
                <a:close/>
              </a:path>
            </a:pathLst>
          </a:custGeom>
          <a:blipFill>
            <a:blip r:embed="rId4">
              <a:alphaModFix amt="90000"/>
            </a:blip>
            <a:stretch>
              <a:fillRect l="0" t="-90573" r="0" b="0"/>
            </a:stretch>
          </a:blipFill>
        </p:spPr>
      </p:sp>
      <p:sp>
        <p:nvSpPr>
          <p:cNvPr name="AutoShape 5" id="5"/>
          <p:cNvSpPr/>
          <p:nvPr/>
        </p:nvSpPr>
        <p:spPr>
          <a:xfrm>
            <a:off x="1104900" y="1619250"/>
            <a:ext cx="951963" cy="0"/>
          </a:xfrm>
          <a:prstGeom prst="line">
            <a:avLst/>
          </a:prstGeom>
          <a:ln cap="rnd" w="19050">
            <a:solidFill>
              <a:srgbClr val="000000"/>
            </a:solidFill>
            <a:prstDash val="solid"/>
            <a:headEnd type="none" len="sm" w="sm"/>
            <a:tailEnd type="none" len="sm" w="sm"/>
          </a:ln>
        </p:spPr>
      </p:sp>
      <p:sp>
        <p:nvSpPr>
          <p:cNvPr name="Freeform 6" id="6"/>
          <p:cNvSpPr/>
          <p:nvPr/>
        </p:nvSpPr>
        <p:spPr>
          <a:xfrm flipH="false" flipV="false" rot="0">
            <a:off x="460553" y="2977897"/>
            <a:ext cx="4403275" cy="7113868"/>
          </a:xfrm>
          <a:custGeom>
            <a:avLst/>
            <a:gdLst/>
            <a:ahLst/>
            <a:cxnLst/>
            <a:rect r="r" b="b" t="t" l="l"/>
            <a:pathLst>
              <a:path h="7113868" w="4403275">
                <a:moveTo>
                  <a:pt x="0" y="0"/>
                </a:moveTo>
                <a:lnTo>
                  <a:pt x="4403275" y="0"/>
                </a:lnTo>
                <a:lnTo>
                  <a:pt x="4403275" y="7113867"/>
                </a:lnTo>
                <a:lnTo>
                  <a:pt x="0" y="7113867"/>
                </a:lnTo>
                <a:lnTo>
                  <a:pt x="0" y="0"/>
                </a:lnTo>
                <a:close/>
              </a:path>
            </a:pathLst>
          </a:custGeom>
          <a:blipFill>
            <a:blip r:embed="rId5"/>
            <a:stretch>
              <a:fillRect l="-3819" t="0" r="-3819" b="0"/>
            </a:stretch>
          </a:blipFill>
          <a:ln w="19050" cap="rnd">
            <a:solidFill>
              <a:srgbClr val="4D8ECC"/>
            </a:solidFill>
            <a:prstDash val="solid"/>
            <a:round/>
          </a:ln>
        </p:spPr>
      </p:sp>
      <p:sp>
        <p:nvSpPr>
          <p:cNvPr name="Freeform 7" id="7"/>
          <p:cNvSpPr/>
          <p:nvPr/>
        </p:nvSpPr>
        <p:spPr>
          <a:xfrm flipH="false" flipV="false" rot="0">
            <a:off x="5898486" y="2475272"/>
            <a:ext cx="5158246" cy="3172362"/>
          </a:xfrm>
          <a:custGeom>
            <a:avLst/>
            <a:gdLst/>
            <a:ahLst/>
            <a:cxnLst/>
            <a:rect r="r" b="b" t="t" l="l"/>
            <a:pathLst>
              <a:path h="3172362" w="5158246">
                <a:moveTo>
                  <a:pt x="0" y="0"/>
                </a:moveTo>
                <a:lnTo>
                  <a:pt x="5158246" y="0"/>
                </a:lnTo>
                <a:lnTo>
                  <a:pt x="5158246" y="3172362"/>
                </a:lnTo>
                <a:lnTo>
                  <a:pt x="0" y="3172362"/>
                </a:lnTo>
                <a:lnTo>
                  <a:pt x="0" y="0"/>
                </a:lnTo>
                <a:close/>
              </a:path>
            </a:pathLst>
          </a:custGeom>
          <a:blipFill>
            <a:blip r:embed="rId6"/>
            <a:stretch>
              <a:fillRect l="-485" t="0" r="-485" b="0"/>
            </a:stretch>
          </a:blipFill>
          <a:ln w="19050" cap="rnd">
            <a:solidFill>
              <a:srgbClr val="4D8ECC"/>
            </a:solidFill>
            <a:prstDash val="solid"/>
            <a:round/>
          </a:ln>
        </p:spPr>
      </p:sp>
      <p:sp>
        <p:nvSpPr>
          <p:cNvPr name="TextBox 8" id="8"/>
          <p:cNvSpPr txBox="true"/>
          <p:nvPr/>
        </p:nvSpPr>
        <p:spPr>
          <a:xfrm rot="0">
            <a:off x="1092890" y="933450"/>
            <a:ext cx="8809376" cy="361950"/>
          </a:xfrm>
          <a:prstGeom prst="rect">
            <a:avLst/>
          </a:prstGeom>
        </p:spPr>
        <p:txBody>
          <a:bodyPr anchor="t" rtlCol="false" tIns="0" lIns="0" bIns="0" rIns="0">
            <a:spAutoFit/>
          </a:bodyPr>
          <a:lstStyle/>
          <a:p>
            <a:pPr algn="l">
              <a:lnSpc>
                <a:spcPts val="2879"/>
              </a:lnSpc>
            </a:pPr>
            <a:r>
              <a:rPr lang="en-US" sz="2400" spc="240">
                <a:solidFill>
                  <a:srgbClr val="000000"/>
                </a:solidFill>
                <a:latin typeface="Open Sauce"/>
                <a:ea typeface="Open Sauce"/>
                <a:cs typeface="Open Sauce"/>
                <a:sym typeface="Open Sauce"/>
              </a:rPr>
              <a:t>CHOISIR LE BON MODÈLE</a:t>
            </a:r>
          </a:p>
        </p:txBody>
      </p:sp>
      <p:sp>
        <p:nvSpPr>
          <p:cNvPr name="TextBox 9" id="9"/>
          <p:cNvSpPr txBox="true"/>
          <p:nvPr/>
        </p:nvSpPr>
        <p:spPr>
          <a:xfrm rot="0">
            <a:off x="16055825" y="9267825"/>
            <a:ext cx="1203475" cy="361950"/>
          </a:xfrm>
          <a:prstGeom prst="rect">
            <a:avLst/>
          </a:prstGeom>
        </p:spPr>
        <p:txBody>
          <a:bodyPr anchor="t" rtlCol="false" tIns="0" lIns="0" bIns="0" rIns="0">
            <a:spAutoFit/>
          </a:bodyPr>
          <a:lstStyle/>
          <a:p>
            <a:pPr algn="r">
              <a:lnSpc>
                <a:spcPts val="2879"/>
              </a:lnSpc>
            </a:pPr>
            <a:r>
              <a:rPr lang="en-US" sz="2400" spc="240">
                <a:solidFill>
                  <a:srgbClr val="000000"/>
                </a:solidFill>
                <a:latin typeface="Open Sauce"/>
                <a:ea typeface="Open Sauce"/>
                <a:cs typeface="Open Sauce"/>
                <a:sym typeface="Open Sauce"/>
              </a:rPr>
              <a:t>7</a:t>
            </a:r>
          </a:p>
        </p:txBody>
      </p:sp>
      <p:sp>
        <p:nvSpPr>
          <p:cNvPr name="Freeform 10" id="10"/>
          <p:cNvSpPr/>
          <p:nvPr/>
        </p:nvSpPr>
        <p:spPr>
          <a:xfrm flipH="false" flipV="false" rot="0">
            <a:off x="5993929" y="6919402"/>
            <a:ext cx="5158246" cy="3172362"/>
          </a:xfrm>
          <a:custGeom>
            <a:avLst/>
            <a:gdLst/>
            <a:ahLst/>
            <a:cxnLst/>
            <a:rect r="r" b="b" t="t" l="l"/>
            <a:pathLst>
              <a:path h="3172362" w="5158246">
                <a:moveTo>
                  <a:pt x="0" y="0"/>
                </a:moveTo>
                <a:lnTo>
                  <a:pt x="5158246" y="0"/>
                </a:lnTo>
                <a:lnTo>
                  <a:pt x="5158246" y="3172362"/>
                </a:lnTo>
                <a:lnTo>
                  <a:pt x="0" y="3172362"/>
                </a:lnTo>
                <a:lnTo>
                  <a:pt x="0" y="0"/>
                </a:lnTo>
                <a:close/>
              </a:path>
            </a:pathLst>
          </a:custGeom>
          <a:blipFill>
            <a:blip r:embed="rId7"/>
            <a:stretch>
              <a:fillRect l="-14908" t="0" r="-14908" b="0"/>
            </a:stretch>
          </a:blipFill>
          <a:ln w="19050" cap="rnd">
            <a:solidFill>
              <a:srgbClr val="4D8ECC"/>
            </a:solidFill>
            <a:prstDash val="solid"/>
            <a:round/>
          </a:ln>
        </p:spPr>
      </p:sp>
      <p:sp>
        <p:nvSpPr>
          <p:cNvPr name="TextBox 11" id="11"/>
          <p:cNvSpPr txBox="true"/>
          <p:nvPr/>
        </p:nvSpPr>
        <p:spPr>
          <a:xfrm rot="0">
            <a:off x="1427093" y="1709737"/>
            <a:ext cx="2470195" cy="613410"/>
          </a:xfrm>
          <a:prstGeom prst="rect">
            <a:avLst/>
          </a:prstGeom>
        </p:spPr>
        <p:txBody>
          <a:bodyPr anchor="t" rtlCol="false" tIns="0" lIns="0" bIns="0" rIns="0">
            <a:spAutoFit/>
          </a:bodyPr>
          <a:lstStyle/>
          <a:p>
            <a:pPr algn="l">
              <a:lnSpc>
                <a:spcPts val="5040"/>
              </a:lnSpc>
            </a:pPr>
            <a:r>
              <a:rPr lang="en-US" sz="3600" b="true">
                <a:solidFill>
                  <a:srgbClr val="000000"/>
                </a:solidFill>
                <a:latin typeface="Open Sauce Bold"/>
                <a:ea typeface="Open Sauce Bold"/>
                <a:cs typeface="Open Sauce Bold"/>
                <a:sym typeface="Open Sauce Bold"/>
              </a:rPr>
              <a:t>La Tâche</a:t>
            </a:r>
          </a:p>
        </p:txBody>
      </p:sp>
      <p:sp>
        <p:nvSpPr>
          <p:cNvPr name="TextBox 12" id="12"/>
          <p:cNvSpPr txBox="true"/>
          <p:nvPr/>
        </p:nvSpPr>
        <p:spPr>
          <a:xfrm rot="0">
            <a:off x="5402328" y="5729721"/>
            <a:ext cx="5038410" cy="613410"/>
          </a:xfrm>
          <a:prstGeom prst="rect">
            <a:avLst/>
          </a:prstGeom>
        </p:spPr>
        <p:txBody>
          <a:bodyPr anchor="t" rtlCol="false" tIns="0" lIns="0" bIns="0" rIns="0">
            <a:spAutoFit/>
          </a:bodyPr>
          <a:lstStyle/>
          <a:p>
            <a:pPr algn="l">
              <a:lnSpc>
                <a:spcPts val="5040"/>
              </a:lnSpc>
            </a:pPr>
            <a:r>
              <a:rPr lang="en-US" sz="3600" b="true">
                <a:solidFill>
                  <a:srgbClr val="000000"/>
                </a:solidFill>
                <a:latin typeface="Open Sauce Bold"/>
                <a:ea typeface="Open Sauce Bold"/>
                <a:cs typeface="Open Sauce Bold"/>
                <a:sym typeface="Open Sauce Bold"/>
              </a:rPr>
              <a:t>La Taille des Données</a:t>
            </a:r>
          </a:p>
        </p:txBody>
      </p:sp>
      <p:sp>
        <p:nvSpPr>
          <p:cNvPr name="TextBox 13" id="13"/>
          <p:cNvSpPr txBox="true"/>
          <p:nvPr/>
        </p:nvSpPr>
        <p:spPr>
          <a:xfrm rot="0">
            <a:off x="5402328" y="1861862"/>
            <a:ext cx="6603476" cy="613410"/>
          </a:xfrm>
          <a:prstGeom prst="rect">
            <a:avLst/>
          </a:prstGeom>
        </p:spPr>
        <p:txBody>
          <a:bodyPr anchor="t" rtlCol="false" tIns="0" lIns="0" bIns="0" rIns="0">
            <a:spAutoFit/>
          </a:bodyPr>
          <a:lstStyle/>
          <a:p>
            <a:pPr algn="l">
              <a:lnSpc>
                <a:spcPts val="5040"/>
              </a:lnSpc>
            </a:pPr>
            <a:r>
              <a:rPr lang="en-US" sz="3600" b="true">
                <a:solidFill>
                  <a:srgbClr val="000000"/>
                </a:solidFill>
                <a:latin typeface="Open Sauce Bold"/>
                <a:ea typeface="Open Sauce Bold"/>
                <a:cs typeface="Open Sauce Bold"/>
                <a:sym typeface="Open Sauce Bold"/>
              </a:rPr>
              <a:t>Les Ressources Disponibles</a:t>
            </a:r>
          </a:p>
        </p:txBody>
      </p:sp>
      <p:sp>
        <p:nvSpPr>
          <p:cNvPr name="TextBox 14" id="14"/>
          <p:cNvSpPr txBox="true"/>
          <p:nvPr/>
        </p:nvSpPr>
        <p:spPr>
          <a:xfrm rot="0">
            <a:off x="12768457" y="3270467"/>
            <a:ext cx="4850358" cy="613410"/>
          </a:xfrm>
          <a:prstGeom prst="rect">
            <a:avLst/>
          </a:prstGeom>
        </p:spPr>
        <p:txBody>
          <a:bodyPr anchor="t" rtlCol="false" tIns="0" lIns="0" bIns="0" rIns="0">
            <a:spAutoFit/>
          </a:bodyPr>
          <a:lstStyle/>
          <a:p>
            <a:pPr algn="l">
              <a:lnSpc>
                <a:spcPts val="5040"/>
              </a:lnSpc>
            </a:pPr>
            <a:r>
              <a:rPr lang="en-US" sz="3600" b="true">
                <a:solidFill>
                  <a:srgbClr val="000000"/>
                </a:solidFill>
                <a:latin typeface="Open Sauce Bold"/>
                <a:ea typeface="Open Sauce Bold"/>
                <a:cs typeface="Open Sauce Bold"/>
                <a:sym typeface="Open Sauce Bold"/>
              </a:rPr>
              <a:t>La Précision Requise</a:t>
            </a:r>
          </a:p>
        </p:txBody>
      </p:sp>
      <p:sp>
        <p:nvSpPr>
          <p:cNvPr name="TextBox 15" id="15"/>
          <p:cNvSpPr txBox="true"/>
          <p:nvPr/>
        </p:nvSpPr>
        <p:spPr>
          <a:xfrm rot="0">
            <a:off x="983675" y="2304098"/>
            <a:ext cx="3357031" cy="443229"/>
          </a:xfrm>
          <a:prstGeom prst="rect">
            <a:avLst/>
          </a:prstGeom>
        </p:spPr>
        <p:txBody>
          <a:bodyPr anchor="t" rtlCol="false" tIns="0" lIns="0" bIns="0" rIns="0">
            <a:spAutoFit/>
          </a:bodyPr>
          <a:lstStyle/>
          <a:p>
            <a:pPr algn="l">
              <a:lnSpc>
                <a:spcPts val="1820"/>
              </a:lnSpc>
            </a:pPr>
            <a:r>
              <a:rPr lang="en-US" sz="1300">
                <a:solidFill>
                  <a:srgbClr val="000000">
                    <a:alpha val="60000"/>
                  </a:srgbClr>
                </a:solidFill>
                <a:latin typeface="Open Sauce"/>
                <a:ea typeface="Open Sauce"/>
                <a:cs typeface="Open Sauce"/>
                <a:sym typeface="Open Sauce"/>
              </a:rPr>
              <a:t>Classification, détection d'objets, génération de texte, etc.</a:t>
            </a:r>
          </a:p>
        </p:txBody>
      </p:sp>
      <p:sp>
        <p:nvSpPr>
          <p:cNvPr name="TextBox 16" id="16"/>
          <p:cNvSpPr txBox="true"/>
          <p:nvPr/>
        </p:nvSpPr>
        <p:spPr>
          <a:xfrm rot="0">
            <a:off x="6362853" y="6409806"/>
            <a:ext cx="3357031" cy="443229"/>
          </a:xfrm>
          <a:prstGeom prst="rect">
            <a:avLst/>
          </a:prstGeom>
        </p:spPr>
        <p:txBody>
          <a:bodyPr anchor="t" rtlCol="false" tIns="0" lIns="0" bIns="0" rIns="0">
            <a:spAutoFit/>
          </a:bodyPr>
          <a:lstStyle/>
          <a:p>
            <a:pPr algn="l">
              <a:lnSpc>
                <a:spcPts val="1820"/>
              </a:lnSpc>
            </a:pPr>
            <a:r>
              <a:rPr lang="en-US" sz="1300">
                <a:solidFill>
                  <a:srgbClr val="000000">
                    <a:alpha val="60000"/>
                  </a:srgbClr>
                </a:solidFill>
                <a:latin typeface="Open Sauce"/>
                <a:ea typeface="Open Sauce"/>
                <a:cs typeface="Open Sauce"/>
                <a:sym typeface="Open Sauce"/>
              </a:rPr>
              <a:t>Pour de petits ensembles de données, un modèle plus simple peut suffire.</a:t>
            </a:r>
          </a:p>
        </p:txBody>
      </p:sp>
      <p:sp>
        <p:nvSpPr>
          <p:cNvPr name="TextBox 17" id="17"/>
          <p:cNvSpPr txBox="true"/>
          <p:nvPr/>
        </p:nvSpPr>
        <p:spPr>
          <a:xfrm rot="0">
            <a:off x="13515120" y="7305072"/>
            <a:ext cx="3357031" cy="671829"/>
          </a:xfrm>
          <a:prstGeom prst="rect">
            <a:avLst/>
          </a:prstGeom>
        </p:spPr>
        <p:txBody>
          <a:bodyPr anchor="t" rtlCol="false" tIns="0" lIns="0" bIns="0" rIns="0">
            <a:spAutoFit/>
          </a:bodyPr>
          <a:lstStyle/>
          <a:p>
            <a:pPr algn="l">
              <a:lnSpc>
                <a:spcPts val="1820"/>
              </a:lnSpc>
            </a:pPr>
            <a:r>
              <a:rPr lang="en-US" sz="1300">
                <a:solidFill>
                  <a:srgbClr val="000000">
                    <a:alpha val="60000"/>
                  </a:srgbClr>
                </a:solidFill>
                <a:latin typeface="Open Sauce"/>
                <a:ea typeface="Open Sauce"/>
                <a:cs typeface="Open Sauce"/>
                <a:sym typeface="Open Sauce"/>
              </a:rPr>
              <a:t>Les modèles plus complexes oﬀrent généralement de meilleures performances</a:t>
            </a:r>
          </a:p>
        </p:txBody>
      </p:sp>
      <p:sp>
        <p:nvSpPr>
          <p:cNvPr name="TextBox 18" id="18"/>
          <p:cNvSpPr txBox="true"/>
          <p:nvPr/>
        </p:nvSpPr>
        <p:spPr>
          <a:xfrm rot="0">
            <a:off x="6719013" y="1510983"/>
            <a:ext cx="3357031" cy="443229"/>
          </a:xfrm>
          <a:prstGeom prst="rect">
            <a:avLst/>
          </a:prstGeom>
        </p:spPr>
        <p:txBody>
          <a:bodyPr anchor="t" rtlCol="false" tIns="0" lIns="0" bIns="0" rIns="0">
            <a:spAutoFit/>
          </a:bodyPr>
          <a:lstStyle/>
          <a:p>
            <a:pPr algn="l">
              <a:lnSpc>
                <a:spcPts val="1820"/>
              </a:lnSpc>
            </a:pPr>
            <a:r>
              <a:rPr lang="en-US" sz="1300">
                <a:solidFill>
                  <a:srgbClr val="000000">
                    <a:alpha val="60000"/>
                  </a:srgbClr>
                </a:solidFill>
                <a:latin typeface="Open Sauce"/>
                <a:ea typeface="Open Sauce"/>
                <a:cs typeface="Open Sauce"/>
                <a:sym typeface="Open Sauce"/>
              </a:rPr>
              <a:t>Les modèles plus grands nécessitent plus de puissance de calcul</a:t>
            </a:r>
          </a:p>
        </p:txBody>
      </p:sp>
      <p:sp>
        <p:nvSpPr>
          <p:cNvPr name="Freeform 19" id="19"/>
          <p:cNvSpPr/>
          <p:nvPr/>
        </p:nvSpPr>
        <p:spPr>
          <a:xfrm flipH="false" flipV="false" rot="0">
            <a:off x="12614513" y="4018410"/>
            <a:ext cx="5158246" cy="3172362"/>
          </a:xfrm>
          <a:custGeom>
            <a:avLst/>
            <a:gdLst/>
            <a:ahLst/>
            <a:cxnLst/>
            <a:rect r="r" b="b" t="t" l="l"/>
            <a:pathLst>
              <a:path h="3172362" w="5158246">
                <a:moveTo>
                  <a:pt x="0" y="0"/>
                </a:moveTo>
                <a:lnTo>
                  <a:pt x="5158246" y="0"/>
                </a:lnTo>
                <a:lnTo>
                  <a:pt x="5158246" y="3172362"/>
                </a:lnTo>
                <a:lnTo>
                  <a:pt x="0" y="3172362"/>
                </a:lnTo>
                <a:lnTo>
                  <a:pt x="0" y="0"/>
                </a:lnTo>
                <a:close/>
              </a:path>
            </a:pathLst>
          </a:custGeom>
          <a:blipFill>
            <a:blip r:embed="rId8"/>
            <a:stretch>
              <a:fillRect l="-3862" t="0" r="-3862" b="0"/>
            </a:stretch>
          </a:blipFill>
          <a:ln w="19050" cap="rnd">
            <a:solidFill>
              <a:srgbClr val="4D8ECC"/>
            </a:solidFill>
            <a:prstDash val="solid"/>
            <a:round/>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7769070" y="10277608"/>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2"/>
            <a:stretch>
              <a:fillRect l="0" t="0" r="0" b="-76306"/>
            </a:stretch>
          </a:blipFill>
        </p:spPr>
      </p:sp>
      <p:sp>
        <p:nvSpPr>
          <p:cNvPr name="Freeform 3" id="3"/>
          <p:cNvSpPr/>
          <p:nvPr/>
        </p:nvSpPr>
        <p:spPr>
          <a:xfrm flipH="false" flipV="false" rot="5478894">
            <a:off x="-958903" y="5259686"/>
            <a:ext cx="9108307" cy="7633373"/>
          </a:xfrm>
          <a:custGeom>
            <a:avLst/>
            <a:gdLst/>
            <a:ahLst/>
            <a:cxnLst/>
            <a:rect r="r" b="b" t="t" l="l"/>
            <a:pathLst>
              <a:path h="7633373" w="9108307">
                <a:moveTo>
                  <a:pt x="0" y="0"/>
                </a:moveTo>
                <a:lnTo>
                  <a:pt x="9108308" y="0"/>
                </a:lnTo>
                <a:lnTo>
                  <a:pt x="9108308" y="7633373"/>
                </a:lnTo>
                <a:lnTo>
                  <a:pt x="0" y="7633373"/>
                </a:lnTo>
                <a:lnTo>
                  <a:pt x="0" y="0"/>
                </a:lnTo>
                <a:close/>
              </a:path>
            </a:pathLst>
          </a:custGeom>
          <a:blipFill>
            <a:blip r:embed="rId3"/>
            <a:stretch>
              <a:fillRect l="0" t="0" r="-125760" b="-99006"/>
            </a:stretch>
          </a:blipFill>
        </p:spPr>
      </p:sp>
      <p:sp>
        <p:nvSpPr>
          <p:cNvPr name="Freeform 4" id="4"/>
          <p:cNvSpPr/>
          <p:nvPr/>
        </p:nvSpPr>
        <p:spPr>
          <a:xfrm flipH="false" flipV="false" rot="0">
            <a:off x="13642212" y="-700553"/>
            <a:ext cx="8408276" cy="4318332"/>
          </a:xfrm>
          <a:custGeom>
            <a:avLst/>
            <a:gdLst/>
            <a:ahLst/>
            <a:cxnLst/>
            <a:rect r="r" b="b" t="t" l="l"/>
            <a:pathLst>
              <a:path h="4318332" w="8408276">
                <a:moveTo>
                  <a:pt x="0" y="0"/>
                </a:moveTo>
                <a:lnTo>
                  <a:pt x="8408276" y="0"/>
                </a:lnTo>
                <a:lnTo>
                  <a:pt x="8408276" y="4318331"/>
                </a:lnTo>
                <a:lnTo>
                  <a:pt x="0" y="4318331"/>
                </a:lnTo>
                <a:lnTo>
                  <a:pt x="0" y="0"/>
                </a:lnTo>
                <a:close/>
              </a:path>
            </a:pathLst>
          </a:custGeom>
          <a:blipFill>
            <a:blip r:embed="rId4">
              <a:alphaModFix amt="90000"/>
            </a:blip>
            <a:stretch>
              <a:fillRect l="0" t="-90573" r="0" b="0"/>
            </a:stretch>
          </a:blipFill>
        </p:spPr>
      </p:sp>
      <p:sp>
        <p:nvSpPr>
          <p:cNvPr name="TextBox 5" id="5"/>
          <p:cNvSpPr txBox="true"/>
          <p:nvPr/>
        </p:nvSpPr>
        <p:spPr>
          <a:xfrm rot="0">
            <a:off x="4415991" y="2590800"/>
            <a:ext cx="9456018" cy="5105400"/>
          </a:xfrm>
          <a:prstGeom prst="rect">
            <a:avLst/>
          </a:prstGeom>
        </p:spPr>
        <p:txBody>
          <a:bodyPr anchor="t" rtlCol="false" tIns="0" lIns="0" bIns="0" rIns="0">
            <a:spAutoFit/>
          </a:bodyPr>
          <a:lstStyle/>
          <a:p>
            <a:pPr algn="ctr">
              <a:lnSpc>
                <a:spcPts val="10080"/>
              </a:lnSpc>
            </a:pPr>
            <a:r>
              <a:rPr lang="en-US" sz="8400" b="true">
                <a:solidFill>
                  <a:srgbClr val="000000"/>
                </a:solidFill>
                <a:latin typeface="Open Sauce Bold"/>
                <a:ea typeface="Open Sauce Bold"/>
                <a:cs typeface="Open Sauce Bold"/>
                <a:sym typeface="Open Sauce Bold"/>
              </a:rPr>
              <a:t>Exemple Pratique de Transfer Learning avec VGG16</a:t>
            </a:r>
          </a:p>
        </p:txBody>
      </p:sp>
      <p:grpSp>
        <p:nvGrpSpPr>
          <p:cNvPr name="Group 6" id="6"/>
          <p:cNvGrpSpPr/>
          <p:nvPr/>
        </p:nvGrpSpPr>
        <p:grpSpPr>
          <a:xfrm rot="0">
            <a:off x="-134203" y="-298230"/>
            <a:ext cx="18556407" cy="1609651"/>
            <a:chOff x="0" y="0"/>
            <a:chExt cx="4887284" cy="423941"/>
          </a:xfrm>
        </p:grpSpPr>
        <p:sp>
          <p:nvSpPr>
            <p:cNvPr name="Freeform 7" id="7"/>
            <p:cNvSpPr/>
            <p:nvPr/>
          </p:nvSpPr>
          <p:spPr>
            <a:xfrm flipH="false" flipV="false" rot="0">
              <a:off x="0" y="0"/>
              <a:ext cx="4887284" cy="423941"/>
            </a:xfrm>
            <a:custGeom>
              <a:avLst/>
              <a:gdLst/>
              <a:ahLst/>
              <a:cxnLst/>
              <a:rect r="r" b="b" t="t" l="l"/>
              <a:pathLst>
                <a:path h="423941" w="4887284">
                  <a:moveTo>
                    <a:pt x="0" y="0"/>
                  </a:moveTo>
                  <a:lnTo>
                    <a:pt x="4887284" y="0"/>
                  </a:lnTo>
                  <a:lnTo>
                    <a:pt x="4887284" y="423941"/>
                  </a:lnTo>
                  <a:lnTo>
                    <a:pt x="0" y="423941"/>
                  </a:lnTo>
                  <a:close/>
                </a:path>
              </a:pathLst>
            </a:custGeom>
            <a:solidFill>
              <a:srgbClr val="FFFFFF">
                <a:alpha val="14902"/>
              </a:srgbClr>
            </a:solidFill>
          </p:spPr>
        </p:sp>
        <p:sp>
          <p:nvSpPr>
            <p:cNvPr name="TextBox 8" id="8"/>
            <p:cNvSpPr txBox="true"/>
            <p:nvPr/>
          </p:nvSpPr>
          <p:spPr>
            <a:xfrm>
              <a:off x="0" y="0"/>
              <a:ext cx="4887284" cy="423941"/>
            </a:xfrm>
            <a:prstGeom prst="rect">
              <a:avLst/>
            </a:prstGeom>
          </p:spPr>
          <p:txBody>
            <a:bodyPr anchor="ctr" rtlCol="false" tIns="50800" lIns="50800" bIns="50800" rIns="50800"/>
            <a:lstStyle/>
            <a:p>
              <a:pPr algn="ctr">
                <a:lnSpc>
                  <a:spcPts val="2160"/>
                </a:lnSpc>
              </a:pPr>
            </a:p>
          </p:txBody>
        </p:sp>
      </p:grpSp>
      <p:sp>
        <p:nvSpPr>
          <p:cNvPr name="TextBox 9" id="9"/>
          <p:cNvSpPr txBox="true"/>
          <p:nvPr/>
        </p:nvSpPr>
        <p:spPr>
          <a:xfrm rot="0">
            <a:off x="13922749" y="506596"/>
            <a:ext cx="3615362" cy="266700"/>
          </a:xfrm>
          <a:prstGeom prst="rect">
            <a:avLst/>
          </a:prstGeom>
        </p:spPr>
        <p:txBody>
          <a:bodyPr anchor="t" rtlCol="false" tIns="0" lIns="0" bIns="0" rIns="0">
            <a:spAutoFit/>
          </a:bodyPr>
          <a:lstStyle/>
          <a:p>
            <a:pPr algn="r">
              <a:lnSpc>
                <a:spcPts val="2160"/>
              </a:lnSpc>
              <a:spcBef>
                <a:spcPct val="0"/>
              </a:spcBef>
            </a:pPr>
            <a:r>
              <a:rPr lang="en-US" sz="1800" spc="179">
                <a:solidFill>
                  <a:srgbClr val="000000"/>
                </a:solidFill>
                <a:latin typeface="Open Sauce"/>
                <a:ea typeface="Open Sauce"/>
                <a:cs typeface="Open Sauce"/>
                <a:sym typeface="Open Sauce"/>
              </a:rPr>
              <a:t>DEEP LEARNING</a:t>
            </a:r>
          </a:p>
        </p:txBody>
      </p:sp>
      <p:sp>
        <p:nvSpPr>
          <p:cNvPr name="TextBox 10" id="10"/>
          <p:cNvSpPr txBox="true"/>
          <p:nvPr/>
        </p:nvSpPr>
        <p:spPr>
          <a:xfrm rot="0">
            <a:off x="749889" y="506596"/>
            <a:ext cx="3615362" cy="266700"/>
          </a:xfrm>
          <a:prstGeom prst="rect">
            <a:avLst/>
          </a:prstGeom>
        </p:spPr>
        <p:txBody>
          <a:bodyPr anchor="t" rtlCol="false" tIns="0" lIns="0" bIns="0" rIns="0">
            <a:spAutoFit/>
          </a:bodyPr>
          <a:lstStyle/>
          <a:p>
            <a:pPr algn="just">
              <a:lnSpc>
                <a:spcPts val="2160"/>
              </a:lnSpc>
              <a:spcBef>
                <a:spcPct val="0"/>
              </a:spcBef>
            </a:pPr>
            <a:r>
              <a:rPr lang="en-US" sz="1800" spc="179">
                <a:solidFill>
                  <a:srgbClr val="000000"/>
                </a:solidFill>
                <a:latin typeface="Open Sauce"/>
                <a:ea typeface="Open Sauce"/>
                <a:cs typeface="Open Sauce"/>
                <a:sym typeface="Open Sauce"/>
              </a:rPr>
              <a:t>2024 DECEMBER 23</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8239962" y="8219153"/>
            <a:ext cx="13744635" cy="4667773"/>
          </a:xfrm>
          <a:custGeom>
            <a:avLst/>
            <a:gdLst/>
            <a:ahLst/>
            <a:cxnLst/>
            <a:rect r="r" b="b" t="t" l="l"/>
            <a:pathLst>
              <a:path h="4667773" w="13744635">
                <a:moveTo>
                  <a:pt x="0" y="0"/>
                </a:moveTo>
                <a:lnTo>
                  <a:pt x="13744635" y="0"/>
                </a:lnTo>
                <a:lnTo>
                  <a:pt x="13744635" y="4667774"/>
                </a:lnTo>
                <a:lnTo>
                  <a:pt x="0" y="4667774"/>
                </a:lnTo>
                <a:lnTo>
                  <a:pt x="0" y="0"/>
                </a:lnTo>
                <a:close/>
              </a:path>
            </a:pathLst>
          </a:custGeom>
          <a:blipFill>
            <a:blip r:embed="rId2"/>
            <a:stretch>
              <a:fillRect l="0" t="0" r="0" b="-76306"/>
            </a:stretch>
          </a:blipFill>
        </p:spPr>
      </p:sp>
      <p:sp>
        <p:nvSpPr>
          <p:cNvPr name="Freeform 3" id="3"/>
          <p:cNvSpPr/>
          <p:nvPr/>
        </p:nvSpPr>
        <p:spPr>
          <a:xfrm flipH="false" flipV="false" rot="9533180">
            <a:off x="-3525454" y="-1992247"/>
            <a:ext cx="9108307" cy="7633373"/>
          </a:xfrm>
          <a:custGeom>
            <a:avLst/>
            <a:gdLst/>
            <a:ahLst/>
            <a:cxnLst/>
            <a:rect r="r" b="b" t="t" l="l"/>
            <a:pathLst>
              <a:path h="7633373" w="9108307">
                <a:moveTo>
                  <a:pt x="0" y="0"/>
                </a:moveTo>
                <a:lnTo>
                  <a:pt x="9108308" y="0"/>
                </a:lnTo>
                <a:lnTo>
                  <a:pt x="9108308" y="7633374"/>
                </a:lnTo>
                <a:lnTo>
                  <a:pt x="0" y="7633374"/>
                </a:lnTo>
                <a:lnTo>
                  <a:pt x="0" y="0"/>
                </a:lnTo>
                <a:close/>
              </a:path>
            </a:pathLst>
          </a:custGeom>
          <a:blipFill>
            <a:blip r:embed="rId3"/>
            <a:stretch>
              <a:fillRect l="0" t="0" r="-125760" b="-99006"/>
            </a:stretch>
          </a:blipFill>
        </p:spPr>
      </p:sp>
      <p:sp>
        <p:nvSpPr>
          <p:cNvPr name="Freeform 4" id="4"/>
          <p:cNvSpPr/>
          <p:nvPr/>
        </p:nvSpPr>
        <p:spPr>
          <a:xfrm flipH="false" flipV="false" rot="0">
            <a:off x="14355637" y="-1396999"/>
            <a:ext cx="8408276" cy="4318332"/>
          </a:xfrm>
          <a:custGeom>
            <a:avLst/>
            <a:gdLst/>
            <a:ahLst/>
            <a:cxnLst/>
            <a:rect r="r" b="b" t="t" l="l"/>
            <a:pathLst>
              <a:path h="4318332" w="8408276">
                <a:moveTo>
                  <a:pt x="0" y="0"/>
                </a:moveTo>
                <a:lnTo>
                  <a:pt x="8408276" y="0"/>
                </a:lnTo>
                <a:lnTo>
                  <a:pt x="8408276" y="4318331"/>
                </a:lnTo>
                <a:lnTo>
                  <a:pt x="0" y="4318331"/>
                </a:lnTo>
                <a:lnTo>
                  <a:pt x="0" y="0"/>
                </a:lnTo>
                <a:close/>
              </a:path>
            </a:pathLst>
          </a:custGeom>
          <a:blipFill>
            <a:blip r:embed="rId4">
              <a:alphaModFix amt="90000"/>
            </a:blip>
            <a:stretch>
              <a:fillRect l="0" t="-90573" r="0" b="0"/>
            </a:stretch>
          </a:blipFill>
        </p:spPr>
      </p:sp>
      <p:sp>
        <p:nvSpPr>
          <p:cNvPr name="AutoShape 5" id="5"/>
          <p:cNvSpPr/>
          <p:nvPr/>
        </p:nvSpPr>
        <p:spPr>
          <a:xfrm>
            <a:off x="1104900" y="1619250"/>
            <a:ext cx="951963" cy="0"/>
          </a:xfrm>
          <a:prstGeom prst="line">
            <a:avLst/>
          </a:prstGeom>
          <a:ln cap="rnd" w="19050">
            <a:solidFill>
              <a:srgbClr val="000000"/>
            </a:solidFill>
            <a:prstDash val="solid"/>
            <a:headEnd type="none" len="sm" w="sm"/>
            <a:tailEnd type="none" len="sm" w="sm"/>
          </a:ln>
        </p:spPr>
      </p:sp>
      <p:sp>
        <p:nvSpPr>
          <p:cNvPr name="TextBox 6" id="6"/>
          <p:cNvSpPr txBox="true"/>
          <p:nvPr/>
        </p:nvSpPr>
        <p:spPr>
          <a:xfrm rot="0">
            <a:off x="16055825" y="9267825"/>
            <a:ext cx="1203475" cy="361950"/>
          </a:xfrm>
          <a:prstGeom prst="rect">
            <a:avLst/>
          </a:prstGeom>
        </p:spPr>
        <p:txBody>
          <a:bodyPr anchor="t" rtlCol="false" tIns="0" lIns="0" bIns="0" rIns="0">
            <a:spAutoFit/>
          </a:bodyPr>
          <a:lstStyle/>
          <a:p>
            <a:pPr algn="r">
              <a:lnSpc>
                <a:spcPts val="2879"/>
              </a:lnSpc>
            </a:pPr>
            <a:r>
              <a:rPr lang="en-US" sz="2400" spc="240">
                <a:solidFill>
                  <a:srgbClr val="000000"/>
                </a:solidFill>
                <a:latin typeface="Open Sauce"/>
                <a:ea typeface="Open Sauce"/>
                <a:cs typeface="Open Sauce"/>
                <a:sym typeface="Open Sauce"/>
              </a:rPr>
              <a:t>11</a:t>
            </a:r>
          </a:p>
        </p:txBody>
      </p:sp>
      <p:sp>
        <p:nvSpPr>
          <p:cNvPr name="TextBox 7" id="7"/>
          <p:cNvSpPr txBox="true"/>
          <p:nvPr/>
        </p:nvSpPr>
        <p:spPr>
          <a:xfrm rot="0">
            <a:off x="1092890" y="933450"/>
            <a:ext cx="8809376" cy="361950"/>
          </a:xfrm>
          <a:prstGeom prst="rect">
            <a:avLst/>
          </a:prstGeom>
        </p:spPr>
        <p:txBody>
          <a:bodyPr anchor="t" rtlCol="false" tIns="0" lIns="0" bIns="0" rIns="0">
            <a:spAutoFit/>
          </a:bodyPr>
          <a:lstStyle/>
          <a:p>
            <a:pPr algn="l">
              <a:lnSpc>
                <a:spcPts val="2879"/>
              </a:lnSpc>
            </a:pPr>
            <a:r>
              <a:rPr lang="en-US" sz="2400" spc="240">
                <a:solidFill>
                  <a:srgbClr val="000000"/>
                </a:solidFill>
                <a:latin typeface="Open Sauce"/>
                <a:ea typeface="Open Sauce"/>
                <a:cs typeface="Open Sauce"/>
                <a:sym typeface="Open Sauce"/>
              </a:rPr>
              <a:t>CONCLUSION</a:t>
            </a:r>
          </a:p>
        </p:txBody>
      </p:sp>
      <p:sp>
        <p:nvSpPr>
          <p:cNvPr name="TextBox 8" id="8"/>
          <p:cNvSpPr txBox="true"/>
          <p:nvPr/>
        </p:nvSpPr>
        <p:spPr>
          <a:xfrm rot="0">
            <a:off x="2168803" y="1401494"/>
            <a:ext cx="12186834" cy="7407486"/>
          </a:xfrm>
          <a:prstGeom prst="rect">
            <a:avLst/>
          </a:prstGeom>
        </p:spPr>
        <p:txBody>
          <a:bodyPr anchor="t" rtlCol="false" tIns="0" lIns="0" bIns="0" rIns="0">
            <a:spAutoFit/>
          </a:bodyPr>
          <a:lstStyle/>
          <a:p>
            <a:pPr algn="l">
              <a:lnSpc>
                <a:spcPts val="4888"/>
              </a:lnSpc>
            </a:pPr>
          </a:p>
          <a:p>
            <a:pPr algn="l">
              <a:lnSpc>
                <a:spcPts val="4888"/>
              </a:lnSpc>
            </a:pPr>
            <a:r>
              <a:rPr lang="en-US" sz="3491">
                <a:solidFill>
                  <a:srgbClr val="000000"/>
                </a:solidFill>
                <a:latin typeface="Open Sauce"/>
                <a:ea typeface="Open Sauce"/>
                <a:cs typeface="Open Sauce"/>
                <a:sym typeface="Open Sauce"/>
              </a:rPr>
              <a:t> </a:t>
            </a:r>
            <a:r>
              <a:rPr lang="en-US" sz="3491">
                <a:solidFill>
                  <a:srgbClr val="000000"/>
                </a:solidFill>
                <a:latin typeface="Open Sauce"/>
                <a:ea typeface="Open Sauce"/>
                <a:cs typeface="Open Sauce"/>
                <a:sym typeface="Open Sauce"/>
              </a:rPr>
              <a:t>Ce code montre un exemple simple d'utilisation du </a:t>
            </a:r>
          </a:p>
          <a:p>
            <a:pPr algn="l">
              <a:lnSpc>
                <a:spcPts val="4888"/>
              </a:lnSpc>
            </a:pPr>
            <a:r>
              <a:rPr lang="en-US" sz="3491" b="true">
                <a:solidFill>
                  <a:srgbClr val="000000"/>
                </a:solidFill>
                <a:latin typeface="Open Sauce Bold"/>
                <a:ea typeface="Open Sauce Bold"/>
                <a:cs typeface="Open Sauce Bold"/>
                <a:sym typeface="Open Sauce Bold"/>
              </a:rPr>
              <a:t>T</a:t>
            </a:r>
            <a:r>
              <a:rPr lang="en-US" sz="3491" b="true">
                <a:solidFill>
                  <a:srgbClr val="000000"/>
                </a:solidFill>
                <a:latin typeface="Open Sauce Bold"/>
                <a:ea typeface="Open Sauce Bold"/>
                <a:cs typeface="Open Sauce Bold"/>
                <a:sym typeface="Open Sauce Bold"/>
              </a:rPr>
              <a:t>ransfert Learning</a:t>
            </a:r>
            <a:r>
              <a:rPr lang="en-US" sz="3491">
                <a:solidFill>
                  <a:srgbClr val="000000"/>
                </a:solidFill>
                <a:latin typeface="Open Sauce"/>
                <a:ea typeface="Open Sauce"/>
                <a:cs typeface="Open Sauce"/>
                <a:sym typeface="Open Sauce"/>
              </a:rPr>
              <a:t> avec le modèle </a:t>
            </a:r>
            <a:r>
              <a:rPr lang="en-US" sz="3491" b="true">
                <a:solidFill>
                  <a:srgbClr val="000000"/>
                </a:solidFill>
                <a:latin typeface="Open Sauce Bold"/>
                <a:ea typeface="Open Sauce Bold"/>
                <a:cs typeface="Open Sauce Bold"/>
                <a:sym typeface="Open Sauce Bold"/>
              </a:rPr>
              <a:t>VGG16</a:t>
            </a:r>
            <a:r>
              <a:rPr lang="en-US" sz="3491">
                <a:solidFill>
                  <a:srgbClr val="000000"/>
                </a:solidFill>
                <a:latin typeface="Open Sauce"/>
                <a:ea typeface="Open Sauce"/>
                <a:cs typeface="Open Sauce"/>
                <a:sym typeface="Open Sauce"/>
              </a:rPr>
              <a:t> pour une tâche de classification d'images. Le Transfert Learning permet de gagner du temps et d'améliorer les performances.</a:t>
            </a:r>
          </a:p>
          <a:p>
            <a:pPr algn="l">
              <a:lnSpc>
                <a:spcPts val="4888"/>
              </a:lnSpc>
            </a:pPr>
          </a:p>
          <a:p>
            <a:pPr algn="l">
              <a:lnSpc>
                <a:spcPts val="4888"/>
              </a:lnSpc>
            </a:pPr>
            <a:r>
              <a:rPr lang="en-US" sz="3491">
                <a:solidFill>
                  <a:srgbClr val="000000"/>
                </a:solidFill>
                <a:latin typeface="Open Sauce"/>
                <a:ea typeface="Open Sauce"/>
                <a:cs typeface="Open Sauce"/>
                <a:sym typeface="Open Sauce"/>
              </a:rPr>
              <a:t> Les modèles </a:t>
            </a:r>
            <a:r>
              <a:rPr lang="en-US" sz="3491" b="true">
                <a:solidFill>
                  <a:srgbClr val="000000"/>
                </a:solidFill>
                <a:latin typeface="Open Sauce Bold"/>
                <a:ea typeface="Open Sauce Bold"/>
                <a:cs typeface="Open Sauce Bold"/>
                <a:sym typeface="Open Sauce Bold"/>
              </a:rPr>
              <a:t>pré-entraînés</a:t>
            </a:r>
            <a:r>
              <a:rPr lang="en-US" sz="3491">
                <a:solidFill>
                  <a:srgbClr val="000000"/>
                </a:solidFill>
                <a:latin typeface="Open Sauce"/>
                <a:ea typeface="Open Sauce"/>
                <a:cs typeface="Open Sauce"/>
                <a:sym typeface="Open Sauce"/>
              </a:rPr>
              <a:t> offrent un point de départ solide pour de nombreux projets de </a:t>
            </a:r>
            <a:r>
              <a:rPr lang="en-US" sz="3491" b="true">
                <a:solidFill>
                  <a:srgbClr val="000000"/>
                </a:solidFill>
                <a:latin typeface="Open Sauce Bold"/>
                <a:ea typeface="Open Sauce Bold"/>
                <a:cs typeface="Open Sauce Bold"/>
                <a:sym typeface="Open Sauce Bold"/>
              </a:rPr>
              <a:t>Deep Learning.</a:t>
            </a:r>
            <a:r>
              <a:rPr lang="en-US" sz="3491">
                <a:solidFill>
                  <a:srgbClr val="000000"/>
                </a:solidFill>
                <a:latin typeface="Open Sauce"/>
                <a:ea typeface="Open Sauce"/>
                <a:cs typeface="Open Sauce"/>
                <a:sym typeface="Open Sauce"/>
              </a:rPr>
              <a:t> En choisissant le bon modèle et en l'adaptant à votre tâche, vous pouvez obtenir des résultats impressionnants avec un minimum d'efforts.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8239962" y="8219153"/>
            <a:ext cx="13744635" cy="4667773"/>
          </a:xfrm>
          <a:custGeom>
            <a:avLst/>
            <a:gdLst/>
            <a:ahLst/>
            <a:cxnLst/>
            <a:rect r="r" b="b" t="t" l="l"/>
            <a:pathLst>
              <a:path h="4667773" w="13744635">
                <a:moveTo>
                  <a:pt x="0" y="0"/>
                </a:moveTo>
                <a:lnTo>
                  <a:pt x="13744635" y="0"/>
                </a:lnTo>
                <a:lnTo>
                  <a:pt x="13744635" y="4667774"/>
                </a:lnTo>
                <a:lnTo>
                  <a:pt x="0" y="4667774"/>
                </a:lnTo>
                <a:lnTo>
                  <a:pt x="0" y="0"/>
                </a:lnTo>
                <a:close/>
              </a:path>
            </a:pathLst>
          </a:custGeom>
          <a:blipFill>
            <a:blip r:embed="rId2"/>
            <a:stretch>
              <a:fillRect l="0" t="0" r="0" b="-76306"/>
            </a:stretch>
          </a:blipFill>
        </p:spPr>
      </p:sp>
      <p:sp>
        <p:nvSpPr>
          <p:cNvPr name="Freeform 3" id="3"/>
          <p:cNvSpPr/>
          <p:nvPr/>
        </p:nvSpPr>
        <p:spPr>
          <a:xfrm flipH="false" flipV="false" rot="9533180">
            <a:off x="-3525454" y="-1992247"/>
            <a:ext cx="9108307" cy="7633373"/>
          </a:xfrm>
          <a:custGeom>
            <a:avLst/>
            <a:gdLst/>
            <a:ahLst/>
            <a:cxnLst/>
            <a:rect r="r" b="b" t="t" l="l"/>
            <a:pathLst>
              <a:path h="7633373" w="9108307">
                <a:moveTo>
                  <a:pt x="0" y="0"/>
                </a:moveTo>
                <a:lnTo>
                  <a:pt x="9108308" y="0"/>
                </a:lnTo>
                <a:lnTo>
                  <a:pt x="9108308" y="7633374"/>
                </a:lnTo>
                <a:lnTo>
                  <a:pt x="0" y="7633374"/>
                </a:lnTo>
                <a:lnTo>
                  <a:pt x="0" y="0"/>
                </a:lnTo>
                <a:close/>
              </a:path>
            </a:pathLst>
          </a:custGeom>
          <a:blipFill>
            <a:blip r:embed="rId3"/>
            <a:stretch>
              <a:fillRect l="0" t="0" r="-125760" b="-99006"/>
            </a:stretch>
          </a:blipFill>
        </p:spPr>
      </p:sp>
      <p:sp>
        <p:nvSpPr>
          <p:cNvPr name="Freeform 4" id="4"/>
          <p:cNvSpPr/>
          <p:nvPr/>
        </p:nvSpPr>
        <p:spPr>
          <a:xfrm flipH="false" flipV="false" rot="0">
            <a:off x="14355637" y="-1396999"/>
            <a:ext cx="8408276" cy="4318332"/>
          </a:xfrm>
          <a:custGeom>
            <a:avLst/>
            <a:gdLst/>
            <a:ahLst/>
            <a:cxnLst/>
            <a:rect r="r" b="b" t="t" l="l"/>
            <a:pathLst>
              <a:path h="4318332" w="8408276">
                <a:moveTo>
                  <a:pt x="0" y="0"/>
                </a:moveTo>
                <a:lnTo>
                  <a:pt x="8408276" y="0"/>
                </a:lnTo>
                <a:lnTo>
                  <a:pt x="8408276" y="4318331"/>
                </a:lnTo>
                <a:lnTo>
                  <a:pt x="0" y="4318331"/>
                </a:lnTo>
                <a:lnTo>
                  <a:pt x="0" y="0"/>
                </a:lnTo>
                <a:close/>
              </a:path>
            </a:pathLst>
          </a:custGeom>
          <a:blipFill>
            <a:blip r:embed="rId4">
              <a:alphaModFix amt="90000"/>
            </a:blip>
            <a:stretch>
              <a:fillRect l="0" t="-90573" r="0" b="0"/>
            </a:stretch>
          </a:blipFill>
        </p:spPr>
      </p:sp>
      <p:sp>
        <p:nvSpPr>
          <p:cNvPr name="AutoShape 5" id="5"/>
          <p:cNvSpPr/>
          <p:nvPr/>
        </p:nvSpPr>
        <p:spPr>
          <a:xfrm>
            <a:off x="1104900" y="1619250"/>
            <a:ext cx="951963" cy="0"/>
          </a:xfrm>
          <a:prstGeom prst="line">
            <a:avLst/>
          </a:prstGeom>
          <a:ln cap="rnd" w="19050">
            <a:solidFill>
              <a:srgbClr val="000000"/>
            </a:solidFill>
            <a:prstDash val="solid"/>
            <a:headEnd type="none" len="sm" w="sm"/>
            <a:tailEnd type="none" len="sm" w="sm"/>
          </a:ln>
        </p:spPr>
      </p:sp>
      <p:sp>
        <p:nvSpPr>
          <p:cNvPr name="TextBox 6" id="6"/>
          <p:cNvSpPr txBox="true"/>
          <p:nvPr/>
        </p:nvSpPr>
        <p:spPr>
          <a:xfrm rot="0">
            <a:off x="1104900" y="762167"/>
            <a:ext cx="8809376" cy="723900"/>
          </a:xfrm>
          <a:prstGeom prst="rect">
            <a:avLst/>
          </a:prstGeom>
        </p:spPr>
        <p:txBody>
          <a:bodyPr anchor="t" rtlCol="false" tIns="0" lIns="0" bIns="0" rIns="0">
            <a:spAutoFit/>
          </a:bodyPr>
          <a:lstStyle/>
          <a:p>
            <a:pPr algn="l">
              <a:lnSpc>
                <a:spcPts val="2879"/>
              </a:lnSpc>
            </a:pPr>
            <a:r>
              <a:rPr lang="en-US" sz="2400" spc="240">
                <a:solidFill>
                  <a:srgbClr val="000000"/>
                </a:solidFill>
                <a:latin typeface="Open Sauce"/>
                <a:ea typeface="Open Sauce"/>
                <a:cs typeface="Open Sauce"/>
                <a:sym typeface="Open Sauce"/>
              </a:rPr>
              <a:t>RÉFÉRENCES BIBLIOGRAPHIQUES SUR LE TRANSFERT LEARNING</a:t>
            </a:r>
          </a:p>
        </p:txBody>
      </p:sp>
      <p:sp>
        <p:nvSpPr>
          <p:cNvPr name="TextBox 7" id="7"/>
          <p:cNvSpPr txBox="true"/>
          <p:nvPr/>
        </p:nvSpPr>
        <p:spPr>
          <a:xfrm rot="0">
            <a:off x="1970778" y="2454607"/>
            <a:ext cx="14346444" cy="923925"/>
          </a:xfrm>
          <a:prstGeom prst="rect">
            <a:avLst/>
          </a:prstGeom>
        </p:spPr>
        <p:txBody>
          <a:bodyPr anchor="t" rtlCol="false" tIns="0" lIns="0" bIns="0" rIns="0">
            <a:spAutoFit/>
          </a:bodyPr>
          <a:lstStyle/>
          <a:p>
            <a:pPr algn="ctr">
              <a:lnSpc>
                <a:spcPts val="2400"/>
              </a:lnSpc>
            </a:pPr>
            <a:r>
              <a:rPr lang="en-US" sz="2000" b="true">
                <a:solidFill>
                  <a:srgbClr val="000000"/>
                </a:solidFill>
                <a:latin typeface="Open Sauce Bold"/>
                <a:ea typeface="Open Sauce Bold"/>
                <a:cs typeface="Open Sauce Bold"/>
                <a:sym typeface="Open Sauce Bold"/>
              </a:rPr>
              <a:t>Pan, S. J., &amp; Yang, Q. (2010). </a:t>
            </a:r>
            <a:r>
              <a:rPr lang="en-US" sz="2000" b="true">
                <a:solidFill>
                  <a:srgbClr val="000000"/>
                </a:solidFill>
                <a:latin typeface="Open Sauce Bold"/>
                <a:ea typeface="Open Sauce Bold"/>
                <a:cs typeface="Open Sauce Bold"/>
                <a:sym typeface="Open Sauce Bold"/>
              </a:rPr>
              <a:t>A survey on transfer learning. IEEE Transactions on Knowledge and Data Engineering, 22(10), 1345-1359</a:t>
            </a:r>
          </a:p>
          <a:p>
            <a:pPr algn="ctr">
              <a:lnSpc>
                <a:spcPts val="2400"/>
              </a:lnSpc>
            </a:pPr>
            <a:r>
              <a:rPr lang="en-US" sz="2000" u="sng">
                <a:solidFill>
                  <a:srgbClr val="000000"/>
                </a:solidFill>
                <a:latin typeface="Open Sauce"/>
                <a:ea typeface="Open Sauce"/>
                <a:cs typeface="Open Sauce"/>
                <a:sym typeface="Open Sauce"/>
              </a:rPr>
              <a:t>https://ieeexplore.ieee.org/document/5288526</a:t>
            </a:r>
          </a:p>
        </p:txBody>
      </p:sp>
      <p:sp>
        <p:nvSpPr>
          <p:cNvPr name="TextBox 8" id="8"/>
          <p:cNvSpPr txBox="true"/>
          <p:nvPr/>
        </p:nvSpPr>
        <p:spPr>
          <a:xfrm rot="0">
            <a:off x="1970778" y="3899112"/>
            <a:ext cx="14346444" cy="619125"/>
          </a:xfrm>
          <a:prstGeom prst="rect">
            <a:avLst/>
          </a:prstGeom>
        </p:spPr>
        <p:txBody>
          <a:bodyPr anchor="t" rtlCol="false" tIns="0" lIns="0" bIns="0" rIns="0">
            <a:spAutoFit/>
          </a:bodyPr>
          <a:lstStyle/>
          <a:p>
            <a:pPr algn="ctr">
              <a:lnSpc>
                <a:spcPts val="2400"/>
              </a:lnSpc>
            </a:pPr>
            <a:r>
              <a:rPr lang="en-US" sz="2000" b="true">
                <a:solidFill>
                  <a:srgbClr val="000000"/>
                </a:solidFill>
                <a:latin typeface="Open Sauce Bold"/>
                <a:ea typeface="Open Sauce Bold"/>
                <a:cs typeface="Open Sauce Bold"/>
                <a:sym typeface="Open Sauce Bold"/>
              </a:rPr>
              <a:t>Weiss, K., Khoshgoftaar, T. M., &amp; Wang, D. (2016). A survey of transfer learning. Journal ofBig Data, 3(1), 9</a:t>
            </a:r>
          </a:p>
          <a:p>
            <a:pPr algn="ctr">
              <a:lnSpc>
                <a:spcPts val="2400"/>
              </a:lnSpc>
            </a:pPr>
            <a:r>
              <a:rPr lang="en-US" sz="2000" u="sng">
                <a:solidFill>
                  <a:srgbClr val="000000"/>
                </a:solidFill>
                <a:latin typeface="Open Sauce"/>
                <a:ea typeface="Open Sauce"/>
                <a:cs typeface="Open Sauce"/>
                <a:sym typeface="Open Sauce"/>
              </a:rPr>
              <a:t>https://www.researchgate.net/publication/303600638_A_survey_of_transfer_learning</a:t>
            </a:r>
          </a:p>
        </p:txBody>
      </p:sp>
      <p:sp>
        <p:nvSpPr>
          <p:cNvPr name="TextBox 9" id="9"/>
          <p:cNvSpPr txBox="true"/>
          <p:nvPr/>
        </p:nvSpPr>
        <p:spPr>
          <a:xfrm rot="0">
            <a:off x="2056863" y="5042112"/>
            <a:ext cx="14346444" cy="1228725"/>
          </a:xfrm>
          <a:prstGeom prst="rect">
            <a:avLst/>
          </a:prstGeom>
        </p:spPr>
        <p:txBody>
          <a:bodyPr anchor="t" rtlCol="false" tIns="0" lIns="0" bIns="0" rIns="0">
            <a:spAutoFit/>
          </a:bodyPr>
          <a:lstStyle/>
          <a:p>
            <a:pPr algn="ctr">
              <a:lnSpc>
                <a:spcPts val="2400"/>
              </a:lnSpc>
            </a:pPr>
            <a:r>
              <a:rPr lang="en-US" sz="2000" b="true">
                <a:solidFill>
                  <a:srgbClr val="000000"/>
                </a:solidFill>
                <a:latin typeface="Open Sauce Bold"/>
                <a:ea typeface="Open Sauce Bold"/>
                <a:cs typeface="Open Sauce Bold"/>
                <a:sym typeface="Open Sauce Bold"/>
              </a:rPr>
              <a:t>Howard, J., &amp; Ruder, S. (2018).Universal Language Model Fine-tuning for TextClassiﬁcation. InProceedings of the 56th Annual Meeting of the Association for Computational Linguistics (pp. 328-339)</a:t>
            </a:r>
          </a:p>
          <a:p>
            <a:pPr algn="ctr">
              <a:lnSpc>
                <a:spcPts val="2400"/>
              </a:lnSpc>
            </a:pPr>
            <a:r>
              <a:rPr lang="en-US" sz="2000" u="sng">
                <a:solidFill>
                  <a:srgbClr val="000000"/>
                </a:solidFill>
                <a:latin typeface="Open Sauce"/>
                <a:ea typeface="Open Sauce"/>
                <a:cs typeface="Open Sauce"/>
                <a:sym typeface="Open Sauce"/>
                <a:hlinkClick r:id="rId5" tooltip="https://aclanthology.org/P18-1031/"/>
              </a:rPr>
              <a:t>https://journalofbigdata.springeropen.com/articles/10.1186/s40537-016-0043-6</a:t>
            </a:r>
          </a:p>
          <a:p>
            <a:pPr algn="ctr">
              <a:lnSpc>
                <a:spcPts val="2400"/>
              </a:lnSpc>
            </a:pPr>
          </a:p>
        </p:txBody>
      </p:sp>
      <p:sp>
        <p:nvSpPr>
          <p:cNvPr name="TextBox 10" id="10"/>
          <p:cNvSpPr txBox="true"/>
          <p:nvPr/>
        </p:nvSpPr>
        <p:spPr>
          <a:xfrm rot="0">
            <a:off x="2056863" y="6794712"/>
            <a:ext cx="14346444" cy="923925"/>
          </a:xfrm>
          <a:prstGeom prst="rect">
            <a:avLst/>
          </a:prstGeom>
        </p:spPr>
        <p:txBody>
          <a:bodyPr anchor="t" rtlCol="false" tIns="0" lIns="0" bIns="0" rIns="0">
            <a:spAutoFit/>
          </a:bodyPr>
          <a:lstStyle/>
          <a:p>
            <a:pPr algn="ctr">
              <a:lnSpc>
                <a:spcPts val="2400"/>
              </a:lnSpc>
            </a:pPr>
            <a:r>
              <a:rPr lang="en-US" sz="2000" b="true">
                <a:solidFill>
                  <a:srgbClr val="000000"/>
                </a:solidFill>
                <a:latin typeface="Open Sauce Bold"/>
                <a:ea typeface="Open Sauce Bold"/>
                <a:cs typeface="Open Sauce Bold"/>
                <a:sym typeface="Open Sauce Bold"/>
              </a:rPr>
              <a:t>Tan, C., Sun, F., Kong, T., Zhang, W., Yang, C., &amp; Liu, C. (2018). A survey on deep transfer learning. In Proceedings of the 27th International Conference on Artiﬁcial Neural Networks (ICANN)</a:t>
            </a:r>
          </a:p>
          <a:p>
            <a:pPr algn="ctr">
              <a:lnSpc>
                <a:spcPts val="2400"/>
              </a:lnSpc>
            </a:pPr>
            <a:r>
              <a:rPr lang="en-US" sz="2000" u="sng">
                <a:solidFill>
                  <a:srgbClr val="000000"/>
                </a:solidFill>
                <a:latin typeface="Open Sauce"/>
                <a:ea typeface="Open Sauce"/>
                <a:cs typeface="Open Sauce"/>
                <a:sym typeface="Open Sauce"/>
              </a:rPr>
              <a:t>https://arxiv.org/abs/1808.01974</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5105804" y="8850797"/>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2"/>
            <a:stretch>
              <a:fillRect l="0" t="0" r="0" b="-76306"/>
            </a:stretch>
          </a:blipFill>
        </p:spPr>
      </p:sp>
      <p:sp>
        <p:nvSpPr>
          <p:cNvPr name="Freeform 3" id="3"/>
          <p:cNvSpPr/>
          <p:nvPr/>
        </p:nvSpPr>
        <p:spPr>
          <a:xfrm flipH="false" flipV="false" rot="9533180">
            <a:off x="-3243660" y="-1974837"/>
            <a:ext cx="9108307" cy="7633373"/>
          </a:xfrm>
          <a:custGeom>
            <a:avLst/>
            <a:gdLst/>
            <a:ahLst/>
            <a:cxnLst/>
            <a:rect r="r" b="b" t="t" l="l"/>
            <a:pathLst>
              <a:path h="7633373" w="9108307">
                <a:moveTo>
                  <a:pt x="0" y="0"/>
                </a:moveTo>
                <a:lnTo>
                  <a:pt x="9108307" y="0"/>
                </a:lnTo>
                <a:lnTo>
                  <a:pt x="9108307" y="7633374"/>
                </a:lnTo>
                <a:lnTo>
                  <a:pt x="0" y="7633374"/>
                </a:lnTo>
                <a:lnTo>
                  <a:pt x="0" y="0"/>
                </a:lnTo>
                <a:close/>
              </a:path>
            </a:pathLst>
          </a:custGeom>
          <a:blipFill>
            <a:blip r:embed="rId3"/>
            <a:stretch>
              <a:fillRect l="0" t="0" r="-125760" b="-99006"/>
            </a:stretch>
          </a:blipFill>
        </p:spPr>
      </p:sp>
      <p:sp>
        <p:nvSpPr>
          <p:cNvPr name="Freeform 4" id="4"/>
          <p:cNvSpPr/>
          <p:nvPr/>
        </p:nvSpPr>
        <p:spPr>
          <a:xfrm flipH="false" flipV="false" rot="0">
            <a:off x="13471921" y="0"/>
            <a:ext cx="8408276" cy="4318332"/>
          </a:xfrm>
          <a:custGeom>
            <a:avLst/>
            <a:gdLst/>
            <a:ahLst/>
            <a:cxnLst/>
            <a:rect r="r" b="b" t="t" l="l"/>
            <a:pathLst>
              <a:path h="4318332" w="8408276">
                <a:moveTo>
                  <a:pt x="0" y="0"/>
                </a:moveTo>
                <a:lnTo>
                  <a:pt x="8408276" y="0"/>
                </a:lnTo>
                <a:lnTo>
                  <a:pt x="8408276" y="4318332"/>
                </a:lnTo>
                <a:lnTo>
                  <a:pt x="0" y="4318332"/>
                </a:lnTo>
                <a:lnTo>
                  <a:pt x="0" y="0"/>
                </a:lnTo>
                <a:close/>
              </a:path>
            </a:pathLst>
          </a:custGeom>
          <a:blipFill>
            <a:blip r:embed="rId4">
              <a:alphaModFix amt="90000"/>
            </a:blip>
            <a:stretch>
              <a:fillRect l="0" t="-90573" r="0" b="0"/>
            </a:stretch>
          </a:blipFill>
        </p:spPr>
      </p:sp>
      <p:sp>
        <p:nvSpPr>
          <p:cNvPr name="TextBox 5" id="5"/>
          <p:cNvSpPr txBox="true"/>
          <p:nvPr/>
        </p:nvSpPr>
        <p:spPr>
          <a:xfrm rot="0">
            <a:off x="4739312" y="3165274"/>
            <a:ext cx="8809376" cy="4733925"/>
          </a:xfrm>
          <a:prstGeom prst="rect">
            <a:avLst/>
          </a:prstGeom>
        </p:spPr>
        <p:txBody>
          <a:bodyPr anchor="t" rtlCol="false" tIns="0" lIns="0" bIns="0" rIns="0">
            <a:spAutoFit/>
          </a:bodyPr>
          <a:lstStyle/>
          <a:p>
            <a:pPr algn="ctr">
              <a:lnSpc>
                <a:spcPts val="12480"/>
              </a:lnSpc>
            </a:pPr>
            <a:r>
              <a:rPr lang="en-US" sz="10400" b="true">
                <a:solidFill>
                  <a:srgbClr val="000000"/>
                </a:solidFill>
                <a:latin typeface="Open Sauce Bold"/>
                <a:ea typeface="Open Sauce Bold"/>
                <a:cs typeface="Open Sauce Bold"/>
                <a:sym typeface="Open Sauce Bold"/>
              </a:rPr>
              <a:t>Merci Pour Votre Attention</a:t>
            </a:r>
          </a:p>
        </p:txBody>
      </p:sp>
      <p:grpSp>
        <p:nvGrpSpPr>
          <p:cNvPr name="Group 6" id="6"/>
          <p:cNvGrpSpPr/>
          <p:nvPr/>
        </p:nvGrpSpPr>
        <p:grpSpPr>
          <a:xfrm rot="0">
            <a:off x="-134203" y="-298230"/>
            <a:ext cx="18556407" cy="1609651"/>
            <a:chOff x="0" y="0"/>
            <a:chExt cx="4887284" cy="423941"/>
          </a:xfrm>
        </p:grpSpPr>
        <p:sp>
          <p:nvSpPr>
            <p:cNvPr name="Freeform 7" id="7"/>
            <p:cNvSpPr/>
            <p:nvPr/>
          </p:nvSpPr>
          <p:spPr>
            <a:xfrm flipH="false" flipV="false" rot="0">
              <a:off x="0" y="0"/>
              <a:ext cx="4887284" cy="423941"/>
            </a:xfrm>
            <a:custGeom>
              <a:avLst/>
              <a:gdLst/>
              <a:ahLst/>
              <a:cxnLst/>
              <a:rect r="r" b="b" t="t" l="l"/>
              <a:pathLst>
                <a:path h="423941" w="4887284">
                  <a:moveTo>
                    <a:pt x="0" y="0"/>
                  </a:moveTo>
                  <a:lnTo>
                    <a:pt x="4887284" y="0"/>
                  </a:lnTo>
                  <a:lnTo>
                    <a:pt x="4887284" y="423941"/>
                  </a:lnTo>
                  <a:lnTo>
                    <a:pt x="0" y="423941"/>
                  </a:lnTo>
                  <a:close/>
                </a:path>
              </a:pathLst>
            </a:custGeom>
            <a:solidFill>
              <a:srgbClr val="FFFFFF">
                <a:alpha val="14902"/>
              </a:srgbClr>
            </a:solidFill>
          </p:spPr>
        </p:sp>
        <p:sp>
          <p:nvSpPr>
            <p:cNvPr name="TextBox 8" id="8"/>
            <p:cNvSpPr txBox="true"/>
            <p:nvPr/>
          </p:nvSpPr>
          <p:spPr>
            <a:xfrm>
              <a:off x="0" y="0"/>
              <a:ext cx="4887284" cy="423941"/>
            </a:xfrm>
            <a:prstGeom prst="rect">
              <a:avLst/>
            </a:prstGeom>
          </p:spPr>
          <p:txBody>
            <a:bodyPr anchor="ctr" rtlCol="false" tIns="50800" lIns="50800" bIns="50800" rIns="50800"/>
            <a:lstStyle/>
            <a:p>
              <a:pPr algn="ctr">
                <a:lnSpc>
                  <a:spcPts val="2160"/>
                </a:lnSpc>
              </a:pPr>
            </a:p>
          </p:txBody>
        </p:sp>
      </p:grpSp>
      <p:sp>
        <p:nvSpPr>
          <p:cNvPr name="TextBox 9" id="9"/>
          <p:cNvSpPr txBox="true"/>
          <p:nvPr/>
        </p:nvSpPr>
        <p:spPr>
          <a:xfrm rot="0">
            <a:off x="13922749" y="506596"/>
            <a:ext cx="3615362" cy="266700"/>
          </a:xfrm>
          <a:prstGeom prst="rect">
            <a:avLst/>
          </a:prstGeom>
        </p:spPr>
        <p:txBody>
          <a:bodyPr anchor="t" rtlCol="false" tIns="0" lIns="0" bIns="0" rIns="0">
            <a:spAutoFit/>
          </a:bodyPr>
          <a:lstStyle/>
          <a:p>
            <a:pPr algn="r">
              <a:lnSpc>
                <a:spcPts val="2160"/>
              </a:lnSpc>
              <a:spcBef>
                <a:spcPct val="0"/>
              </a:spcBef>
            </a:pPr>
            <a:r>
              <a:rPr lang="en-US" sz="1800" spc="179">
                <a:solidFill>
                  <a:srgbClr val="000000"/>
                </a:solidFill>
                <a:latin typeface="Open Sauce"/>
                <a:ea typeface="Open Sauce"/>
                <a:cs typeface="Open Sauce"/>
                <a:sym typeface="Open Sauce"/>
              </a:rPr>
              <a:t>DEEP LEARNING</a:t>
            </a:r>
          </a:p>
        </p:txBody>
      </p:sp>
      <p:sp>
        <p:nvSpPr>
          <p:cNvPr name="TextBox 10" id="10"/>
          <p:cNvSpPr txBox="true"/>
          <p:nvPr/>
        </p:nvSpPr>
        <p:spPr>
          <a:xfrm rot="0">
            <a:off x="749889" y="506596"/>
            <a:ext cx="3615362" cy="266700"/>
          </a:xfrm>
          <a:prstGeom prst="rect">
            <a:avLst/>
          </a:prstGeom>
        </p:spPr>
        <p:txBody>
          <a:bodyPr anchor="t" rtlCol="false" tIns="0" lIns="0" bIns="0" rIns="0">
            <a:spAutoFit/>
          </a:bodyPr>
          <a:lstStyle/>
          <a:p>
            <a:pPr algn="just">
              <a:lnSpc>
                <a:spcPts val="2160"/>
              </a:lnSpc>
              <a:spcBef>
                <a:spcPct val="0"/>
              </a:spcBef>
            </a:pPr>
            <a:r>
              <a:rPr lang="en-US" sz="1800" spc="179">
                <a:solidFill>
                  <a:srgbClr val="000000"/>
                </a:solidFill>
                <a:latin typeface="Open Sauce"/>
                <a:ea typeface="Open Sauce"/>
                <a:cs typeface="Open Sauce"/>
                <a:sym typeface="Open Sauce"/>
              </a:rPr>
              <a:t>2024 DECEMBER 23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EECEC"/>
        </a:solidFill>
      </p:bgPr>
    </p:bg>
    <p:spTree>
      <p:nvGrpSpPr>
        <p:cNvPr id="1" name=""/>
        <p:cNvGrpSpPr/>
        <p:nvPr/>
      </p:nvGrpSpPr>
      <p:grpSpPr>
        <a:xfrm>
          <a:off x="0" y="0"/>
          <a:ext cx="0" cy="0"/>
          <a:chOff x="0" y="0"/>
          <a:chExt cx="0" cy="0"/>
        </a:xfrm>
      </p:grpSpPr>
      <p:sp>
        <p:nvSpPr>
          <p:cNvPr name="Freeform 2" id="2"/>
          <p:cNvSpPr/>
          <p:nvPr/>
        </p:nvSpPr>
        <p:spPr>
          <a:xfrm flipH="false" flipV="false" rot="-876679">
            <a:off x="5197320" y="7705858"/>
            <a:ext cx="13744635" cy="4667773"/>
          </a:xfrm>
          <a:custGeom>
            <a:avLst/>
            <a:gdLst/>
            <a:ahLst/>
            <a:cxnLst/>
            <a:rect r="r" b="b" t="t" l="l"/>
            <a:pathLst>
              <a:path h="4667773" w="13744635">
                <a:moveTo>
                  <a:pt x="0" y="0"/>
                </a:moveTo>
                <a:lnTo>
                  <a:pt x="13744635" y="0"/>
                </a:lnTo>
                <a:lnTo>
                  <a:pt x="13744635" y="4667773"/>
                </a:lnTo>
                <a:lnTo>
                  <a:pt x="0" y="4667773"/>
                </a:lnTo>
                <a:lnTo>
                  <a:pt x="0" y="0"/>
                </a:lnTo>
                <a:close/>
              </a:path>
            </a:pathLst>
          </a:custGeom>
          <a:blipFill>
            <a:blip r:embed="rId2"/>
            <a:stretch>
              <a:fillRect l="0" t="0" r="0" b="-76306"/>
            </a:stretch>
          </a:blipFill>
        </p:spPr>
      </p:sp>
      <p:sp>
        <p:nvSpPr>
          <p:cNvPr name="Freeform 3" id="3"/>
          <p:cNvSpPr/>
          <p:nvPr/>
        </p:nvSpPr>
        <p:spPr>
          <a:xfrm flipH="false" flipV="false" rot="9533180">
            <a:off x="-2304094" y="-1043282"/>
            <a:ext cx="9108307" cy="7633373"/>
          </a:xfrm>
          <a:custGeom>
            <a:avLst/>
            <a:gdLst/>
            <a:ahLst/>
            <a:cxnLst/>
            <a:rect r="r" b="b" t="t" l="l"/>
            <a:pathLst>
              <a:path h="7633373" w="9108307">
                <a:moveTo>
                  <a:pt x="0" y="0"/>
                </a:moveTo>
                <a:lnTo>
                  <a:pt x="9108307" y="0"/>
                </a:lnTo>
                <a:lnTo>
                  <a:pt x="9108307" y="7633373"/>
                </a:lnTo>
                <a:lnTo>
                  <a:pt x="0" y="7633373"/>
                </a:lnTo>
                <a:lnTo>
                  <a:pt x="0" y="0"/>
                </a:lnTo>
                <a:close/>
              </a:path>
            </a:pathLst>
          </a:custGeom>
          <a:blipFill>
            <a:blip r:embed="rId3"/>
            <a:stretch>
              <a:fillRect l="0" t="0" r="-125760" b="-99006"/>
            </a:stretch>
          </a:blipFill>
        </p:spPr>
      </p:sp>
      <p:sp>
        <p:nvSpPr>
          <p:cNvPr name="Freeform 4" id="4"/>
          <p:cNvSpPr/>
          <p:nvPr/>
        </p:nvSpPr>
        <p:spPr>
          <a:xfrm flipH="false" flipV="false" rot="0">
            <a:off x="12518892" y="-1090517"/>
            <a:ext cx="8408276" cy="4318332"/>
          </a:xfrm>
          <a:custGeom>
            <a:avLst/>
            <a:gdLst/>
            <a:ahLst/>
            <a:cxnLst/>
            <a:rect r="r" b="b" t="t" l="l"/>
            <a:pathLst>
              <a:path h="4318332" w="8408276">
                <a:moveTo>
                  <a:pt x="0" y="0"/>
                </a:moveTo>
                <a:lnTo>
                  <a:pt x="8408276" y="0"/>
                </a:lnTo>
                <a:lnTo>
                  <a:pt x="8408276" y="4318331"/>
                </a:lnTo>
                <a:lnTo>
                  <a:pt x="0" y="4318331"/>
                </a:lnTo>
                <a:lnTo>
                  <a:pt x="0" y="0"/>
                </a:lnTo>
                <a:close/>
              </a:path>
            </a:pathLst>
          </a:custGeom>
          <a:blipFill>
            <a:blip r:embed="rId4">
              <a:alphaModFix amt="90000"/>
            </a:blip>
            <a:stretch>
              <a:fillRect l="0" t="-90573" r="0" b="0"/>
            </a:stretch>
          </a:blipFill>
        </p:spPr>
      </p:sp>
      <p:grpSp>
        <p:nvGrpSpPr>
          <p:cNvPr name="Group 5" id="5"/>
          <p:cNvGrpSpPr/>
          <p:nvPr/>
        </p:nvGrpSpPr>
        <p:grpSpPr>
          <a:xfrm rot="0">
            <a:off x="-134203" y="8677349"/>
            <a:ext cx="18556407" cy="1609651"/>
            <a:chOff x="0" y="0"/>
            <a:chExt cx="4887284" cy="423941"/>
          </a:xfrm>
        </p:grpSpPr>
        <p:sp>
          <p:nvSpPr>
            <p:cNvPr name="Freeform 6" id="6"/>
            <p:cNvSpPr/>
            <p:nvPr/>
          </p:nvSpPr>
          <p:spPr>
            <a:xfrm flipH="false" flipV="false" rot="0">
              <a:off x="0" y="0"/>
              <a:ext cx="4887284" cy="423941"/>
            </a:xfrm>
            <a:custGeom>
              <a:avLst/>
              <a:gdLst/>
              <a:ahLst/>
              <a:cxnLst/>
              <a:rect r="r" b="b" t="t" l="l"/>
              <a:pathLst>
                <a:path h="423941" w="4887284">
                  <a:moveTo>
                    <a:pt x="0" y="0"/>
                  </a:moveTo>
                  <a:lnTo>
                    <a:pt x="4887284" y="0"/>
                  </a:lnTo>
                  <a:lnTo>
                    <a:pt x="4887284" y="423941"/>
                  </a:lnTo>
                  <a:lnTo>
                    <a:pt x="0" y="423941"/>
                  </a:lnTo>
                  <a:close/>
                </a:path>
              </a:pathLst>
            </a:custGeom>
            <a:solidFill>
              <a:srgbClr val="FFFFFF">
                <a:alpha val="14902"/>
              </a:srgbClr>
            </a:solidFill>
          </p:spPr>
        </p:sp>
        <p:sp>
          <p:nvSpPr>
            <p:cNvPr name="TextBox 7" id="7"/>
            <p:cNvSpPr txBox="true"/>
            <p:nvPr/>
          </p:nvSpPr>
          <p:spPr>
            <a:xfrm>
              <a:off x="0" y="0"/>
              <a:ext cx="4887284" cy="423941"/>
            </a:xfrm>
            <a:prstGeom prst="rect">
              <a:avLst/>
            </a:prstGeom>
          </p:spPr>
          <p:txBody>
            <a:bodyPr anchor="ctr" rtlCol="false" tIns="50800" lIns="50800" bIns="50800" rIns="50800"/>
            <a:lstStyle/>
            <a:p>
              <a:pPr algn="ctr">
                <a:lnSpc>
                  <a:spcPts val="2160"/>
                </a:lnSpc>
              </a:pPr>
            </a:p>
          </p:txBody>
        </p:sp>
      </p:grpSp>
      <p:sp>
        <p:nvSpPr>
          <p:cNvPr name="Freeform 8" id="8"/>
          <p:cNvSpPr/>
          <p:nvPr/>
        </p:nvSpPr>
        <p:spPr>
          <a:xfrm flipH="false" flipV="false" rot="0">
            <a:off x="9525" y="53942"/>
            <a:ext cx="4181690" cy="2663719"/>
          </a:xfrm>
          <a:custGeom>
            <a:avLst/>
            <a:gdLst/>
            <a:ahLst/>
            <a:cxnLst/>
            <a:rect r="r" b="b" t="t" l="l"/>
            <a:pathLst>
              <a:path h="2663719" w="4181690">
                <a:moveTo>
                  <a:pt x="0" y="0"/>
                </a:moveTo>
                <a:lnTo>
                  <a:pt x="4181690" y="0"/>
                </a:lnTo>
                <a:lnTo>
                  <a:pt x="4181690" y="2663719"/>
                </a:lnTo>
                <a:lnTo>
                  <a:pt x="0" y="2663719"/>
                </a:lnTo>
                <a:lnTo>
                  <a:pt x="0" y="0"/>
                </a:lnTo>
                <a:close/>
              </a:path>
            </a:pathLst>
          </a:custGeom>
          <a:blipFill>
            <a:blip r:embed="rId5"/>
            <a:stretch>
              <a:fillRect l="0" t="0" r="0" b="0"/>
            </a:stretch>
          </a:blipFill>
        </p:spPr>
      </p:sp>
      <p:sp>
        <p:nvSpPr>
          <p:cNvPr name="Freeform 9" id="9"/>
          <p:cNvSpPr/>
          <p:nvPr/>
        </p:nvSpPr>
        <p:spPr>
          <a:xfrm flipH="false" flipV="false" rot="0">
            <a:off x="14687333" y="53942"/>
            <a:ext cx="3566340" cy="2635382"/>
          </a:xfrm>
          <a:custGeom>
            <a:avLst/>
            <a:gdLst/>
            <a:ahLst/>
            <a:cxnLst/>
            <a:rect r="r" b="b" t="t" l="l"/>
            <a:pathLst>
              <a:path h="2635382" w="3566340">
                <a:moveTo>
                  <a:pt x="0" y="0"/>
                </a:moveTo>
                <a:lnTo>
                  <a:pt x="3566340" y="0"/>
                </a:lnTo>
                <a:lnTo>
                  <a:pt x="3566340" y="2635382"/>
                </a:lnTo>
                <a:lnTo>
                  <a:pt x="0" y="2635382"/>
                </a:lnTo>
                <a:lnTo>
                  <a:pt x="0" y="0"/>
                </a:lnTo>
                <a:close/>
              </a:path>
            </a:pathLst>
          </a:custGeom>
          <a:blipFill>
            <a:blip r:embed="rId6"/>
            <a:stretch>
              <a:fillRect l="0" t="0" r="0" b="0"/>
            </a:stretch>
          </a:blipFill>
        </p:spPr>
      </p:sp>
      <p:sp>
        <p:nvSpPr>
          <p:cNvPr name="TextBox 10" id="10"/>
          <p:cNvSpPr txBox="true"/>
          <p:nvPr/>
        </p:nvSpPr>
        <p:spPr>
          <a:xfrm rot="0">
            <a:off x="4739312" y="3165274"/>
            <a:ext cx="8809376" cy="3152775"/>
          </a:xfrm>
          <a:prstGeom prst="rect">
            <a:avLst/>
          </a:prstGeom>
        </p:spPr>
        <p:txBody>
          <a:bodyPr anchor="t" rtlCol="false" tIns="0" lIns="0" bIns="0" rIns="0">
            <a:spAutoFit/>
          </a:bodyPr>
          <a:lstStyle/>
          <a:p>
            <a:pPr algn="ctr">
              <a:lnSpc>
                <a:spcPts val="12480"/>
              </a:lnSpc>
            </a:pPr>
            <a:r>
              <a:rPr lang="en-US" sz="10400" b="true">
                <a:solidFill>
                  <a:srgbClr val="000000"/>
                </a:solidFill>
                <a:latin typeface="Open Sauce Bold"/>
                <a:ea typeface="Open Sauce Bold"/>
                <a:cs typeface="Open Sauce Bold"/>
                <a:sym typeface="Open Sauce Bold"/>
              </a:rPr>
              <a:t>Transfert Learning</a:t>
            </a:r>
          </a:p>
        </p:txBody>
      </p:sp>
      <p:sp>
        <p:nvSpPr>
          <p:cNvPr name="TextBox 11" id="11"/>
          <p:cNvSpPr txBox="true"/>
          <p:nvPr/>
        </p:nvSpPr>
        <p:spPr>
          <a:xfrm rot="0">
            <a:off x="4181690" y="6635951"/>
            <a:ext cx="9924620" cy="542925"/>
          </a:xfrm>
          <a:prstGeom prst="rect">
            <a:avLst/>
          </a:prstGeom>
        </p:spPr>
        <p:txBody>
          <a:bodyPr anchor="t" rtlCol="false" tIns="0" lIns="0" bIns="0" rIns="0">
            <a:spAutoFit/>
          </a:bodyPr>
          <a:lstStyle/>
          <a:p>
            <a:pPr algn="ctr">
              <a:lnSpc>
                <a:spcPts val="4320"/>
              </a:lnSpc>
              <a:spcBef>
                <a:spcPct val="0"/>
              </a:spcBef>
            </a:pPr>
            <a:r>
              <a:rPr lang="en-US" sz="3600">
                <a:solidFill>
                  <a:srgbClr val="000000"/>
                </a:solidFill>
                <a:latin typeface="Open Sauce"/>
                <a:ea typeface="Open Sauce"/>
                <a:cs typeface="Open Sauce"/>
                <a:sym typeface="Open Sauce"/>
              </a:rPr>
              <a:t>Apprentissage par Transfert</a:t>
            </a:r>
          </a:p>
        </p:txBody>
      </p:sp>
      <p:sp>
        <p:nvSpPr>
          <p:cNvPr name="TextBox 12" id="12"/>
          <p:cNvSpPr txBox="true"/>
          <p:nvPr/>
        </p:nvSpPr>
        <p:spPr>
          <a:xfrm rot="0">
            <a:off x="13815751" y="9482175"/>
            <a:ext cx="3615362" cy="266700"/>
          </a:xfrm>
          <a:prstGeom prst="rect">
            <a:avLst/>
          </a:prstGeom>
        </p:spPr>
        <p:txBody>
          <a:bodyPr anchor="t" rtlCol="false" tIns="0" lIns="0" bIns="0" rIns="0">
            <a:spAutoFit/>
          </a:bodyPr>
          <a:lstStyle/>
          <a:p>
            <a:pPr algn="r">
              <a:lnSpc>
                <a:spcPts val="2160"/>
              </a:lnSpc>
              <a:spcBef>
                <a:spcPct val="0"/>
              </a:spcBef>
            </a:pPr>
            <a:r>
              <a:rPr lang="en-US" sz="1800" spc="179">
                <a:solidFill>
                  <a:srgbClr val="000000"/>
                </a:solidFill>
                <a:latin typeface="Open Sauce"/>
                <a:ea typeface="Open Sauce"/>
                <a:cs typeface="Open Sauce"/>
                <a:sym typeface="Open Sauce"/>
              </a:rPr>
              <a:t>DEEP LEARNING</a:t>
            </a:r>
          </a:p>
        </p:txBody>
      </p:sp>
      <p:sp>
        <p:nvSpPr>
          <p:cNvPr name="TextBox 13" id="13"/>
          <p:cNvSpPr txBox="true"/>
          <p:nvPr/>
        </p:nvSpPr>
        <p:spPr>
          <a:xfrm rot="0">
            <a:off x="566328" y="9482175"/>
            <a:ext cx="3615362" cy="266700"/>
          </a:xfrm>
          <a:prstGeom prst="rect">
            <a:avLst/>
          </a:prstGeom>
        </p:spPr>
        <p:txBody>
          <a:bodyPr anchor="t" rtlCol="false" tIns="0" lIns="0" bIns="0" rIns="0">
            <a:spAutoFit/>
          </a:bodyPr>
          <a:lstStyle/>
          <a:p>
            <a:pPr algn="just">
              <a:lnSpc>
                <a:spcPts val="2160"/>
              </a:lnSpc>
              <a:spcBef>
                <a:spcPct val="0"/>
              </a:spcBef>
            </a:pPr>
            <a:r>
              <a:rPr lang="en-US" sz="1800" spc="179">
                <a:solidFill>
                  <a:srgbClr val="000000"/>
                </a:solidFill>
                <a:latin typeface="Open Sauce"/>
                <a:ea typeface="Open Sauce"/>
                <a:cs typeface="Open Sauce"/>
                <a:sym typeface="Open Sauce"/>
              </a:rPr>
              <a:t>2024 DECEMBER 23</a:t>
            </a:r>
          </a:p>
        </p:txBody>
      </p:sp>
      <p:sp>
        <p:nvSpPr>
          <p:cNvPr name="TextBox 14" id="14"/>
          <p:cNvSpPr txBox="true"/>
          <p:nvPr/>
        </p:nvSpPr>
        <p:spPr>
          <a:xfrm rot="0">
            <a:off x="7270467" y="8767800"/>
            <a:ext cx="3747066" cy="1428750"/>
          </a:xfrm>
          <a:prstGeom prst="rect">
            <a:avLst/>
          </a:prstGeom>
        </p:spPr>
        <p:txBody>
          <a:bodyPr anchor="t" rtlCol="false" tIns="0" lIns="0" bIns="0" rIns="0">
            <a:spAutoFit/>
          </a:bodyPr>
          <a:lstStyle/>
          <a:p>
            <a:pPr algn="ctr">
              <a:lnSpc>
                <a:spcPts val="3767"/>
              </a:lnSpc>
            </a:pPr>
            <a:r>
              <a:rPr lang="en-US" sz="3139">
                <a:solidFill>
                  <a:srgbClr val="000000"/>
                </a:solidFill>
                <a:latin typeface="Open Sauce"/>
                <a:ea typeface="Open Sauce"/>
                <a:cs typeface="Open Sauce"/>
                <a:sym typeface="Open Sauce"/>
              </a:rPr>
              <a:t>Présenté Par :</a:t>
            </a:r>
          </a:p>
          <a:p>
            <a:pPr algn="l">
              <a:lnSpc>
                <a:spcPts val="3767"/>
              </a:lnSpc>
            </a:pPr>
            <a:r>
              <a:rPr lang="en-US" sz="3139">
                <a:solidFill>
                  <a:srgbClr val="000000"/>
                </a:solidFill>
                <a:latin typeface="Open Sauce"/>
                <a:ea typeface="Open Sauce"/>
                <a:cs typeface="Open Sauce"/>
                <a:sym typeface="Open Sauce"/>
              </a:rPr>
              <a:t>Abdellatif CHAKOR</a:t>
            </a:r>
          </a:p>
          <a:p>
            <a:pPr algn="l">
              <a:lnSpc>
                <a:spcPts val="3767"/>
              </a:lnSpc>
              <a:spcBef>
                <a:spcPct val="0"/>
              </a:spcBef>
            </a:pPr>
            <a:r>
              <a:rPr lang="en-US" sz="3139">
                <a:solidFill>
                  <a:srgbClr val="000000"/>
                </a:solidFill>
                <a:latin typeface="Open Sauce"/>
                <a:ea typeface="Open Sauce"/>
                <a:cs typeface="Open Sauce"/>
                <a:sym typeface="Open Sauce"/>
              </a:rPr>
              <a:t>Oussama ELHADJI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DAGZ9VCqsqk</dc:identifier>
  <dcterms:modified xsi:type="dcterms:W3CDTF">2011-08-01T06:04:30Z</dcterms:modified>
  <cp:revision>1</cp:revision>
  <dc:title>Transfer Learning</dc:title>
</cp:coreProperties>
</file>